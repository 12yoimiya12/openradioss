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9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  <Relationship Id="rId19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今天汇报 2026 年 9 月 8 日到 10 月 8 日的工作。主线是从源码可以编译，推进到 KF 用户本构可以接入、完成数值验证并产生可后处理结果。需要先说明结论边界：目前建立的是软件接口和数值流程闭环，材料预测能力仍需要实验标定和模型完善。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本月工作分为三个阶段。第一阶段在没有 Visual Studio 的本机上，使用 MinGW gfortran 构建 Starter 和 Engine，并做冒烟与输入兼容检查。第二阶段运行鸟撞风挡和气囊展开两个工程算例，其中鸟撞自然终止并输出 101 帧，气囊此次只生成 61 帧，运行在 A042 处被手工中断。第三阶段完成 KF LAW99 的本机适配、材料点与求解验证，以及动画和结果文件的后处理链路。接下来重点讲第三阶段，同时保留前两阶段的运行状态区别。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本机没有 Visual Studio，因此使用仓库提供的 MinGW gfortran 工具链。构建过程中修正了 CMake 条件比较的变量引用方式，使其兼容新版 CMake 解析。最终生成 Engine 和 Starter 两个可执行文件，大小分别为 36.4 MB 和 23.5 MB。通过 TWISBEAM 冒烟测试和 LS-DYNA 的 .k 输入检查确认基本运行链路可用，并配置了 VS Code 调试启动。文件名中的 gf 标识 gfortran 构建版本，构建时间为 9 月 15 日。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鸟撞风挡算例使用官方 Example 49，Starter 报告零错误，Engine 正常终止，共运行 16,634 个循环，耗时 3,042 秒，内存约 266 MB，并输出 101 帧动画。气囊展开算例读取 LS-DYNA 格式输入卡，产生了 61 帧动画，但这次运行并未自然结束；日志写到 A042 时由人工按下 CTRL-C 中断。两者分别证明了实际工程输入的处理能力和当前运行产物，不能把气囊结果描述为完整求解。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KF 模型通过动态用户库接入，材料卡使用 /MAT/USER02，求解器内部映射到 ILAW 等于 99，再调用用户本构。模型包含 25 个参数和 8 个状态变量。本次迁移是从 MSVC 与 Visual Studio 2022 开发环境转到本机 MinGW gfortran。检查求解器后确认已有动态用户库支持，DLL 文件名保持一致，用户库源码为纯 C，因此不需要重新编译求解器，也没有改动项目源码或测试卡。这样把适配范围收敛在本机编译和运行环境。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本机脚本把用户库构建、八项材料点验证、Starter 与 Engine 求解，以及结果转换连成一个自动流程。它覆盖单砖和多单元模型，并将动画和 T01 数据输出到可检查的位置。实现中有两处环境约束值得记住：编译使用 Ninja，以避开含中文路径时 mingw32-make 的编码问题；Python ctypes 加载用户库时，libgcc_s_seh-1.dll 需要与用户库 DLL 放在同一目录。脚本会预先检查工具链和转换器，任一编译或验证步骤失败就停止，避免留下看似成功的不完整结果。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DLL 材料点矩阵八项检查全部通过，覆盖静水压缩、大静水压缩、单轴压缩和拉伸、简单剪切、客观性、应变率效应与冲击率扫描。P-alpha 状态方程的一致性检查中，最大压力相对误差为零。OpenRadioss 单砖求解的 Starter 零错误，Engine 正常终止，运行八个循环并输出四乘五十五的 T01 CSV。Step 11 汇总为四项 PASS、三项 NOT_CERTIFIED。这里得到的证据支持接口和数值闭环已经跑通，但不等于实验标定，也不等于复杂冲击问题已验证。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四项通过项分别是 DLL 材料点矩阵、P-alpha 状态方程一致性、材料点步长敏感性，以及单砖求解和 T01 完整性。三项 NOT_CERTIFIED 分别对应率效应标定、冲击基准和网格客观性。它们各有明确的证据缺口：率效应需要 SHPB 等动态实验数据，冲击基准需要试验或对照有限元案例，损伤模型则缺少特征长度或断裂能正则化。因此这三项未认证是当前预期的研究边界，不是本机适配失败。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当前 HyperWorks 14 可以通过注册的 RADIOSS A 文件读取器打开动画结果，例如八帧示例，并查看位移、坐标、应力应变和等效塑性应变。H3D 路径受版本限制：本机 writer 输出 v24，HyperWorks 14 的 reader 无法读取；较新版本才可以查看 KF 用户变量，包括损伤、孔隙率和压力。现阶段已有 KF 单砖、J2 基线和 KF 多单元轴压三套可后处理算例。实际可用路径是 RADIOSS 动画，H3D 则保留给新版本环境。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为了观察空间分布，将原有单砖模型扩展为十乘四乘四，共一百六十个单元和二百七十五个节点。Engine 正常终止，运行七十五个循环并输出十帧。早期时刻在 x 等于零点九五处的轴向应力只有负二点九五乘十的五次方帕，反映压缩波尚未传到固定端；末期沿程应力形成明显梯度，加载端为负四点七九乘十的七次方帕，固定端为负七点零一乘十的七次方帕。中间时刻只展示已有的四个采样位置，不推算缺失位置。应力数量级与弹性估算五点五九乘十的七次方帕接近，塑性应变全程为零，说明这段加载仍处在弹性范围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目前已经建立的能力包括本机求解器运行、动态用户库接入、材料点测试、单砖求解与 T01 和动画输出，以及多单元应力分布查看。尚未建立的科学证据包括真实材料参数标定、损伤模型网格正则化和复杂冲击基准验证；当前实现也不是完整的有限应变框架。因此，现有结果证明软件和数值流程可用，不能据此声称材料模型已经具备真实材料预测能力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下一阶段优先取得静态压缩、拉伸、三轴压缩和 SHPB 等实验数据，用于确认模型参数。第二项是加入特征长度或断裂能正则化，再通过多网格结果检查软化响应的网格客观性。之后按研究需求评估有限应变框架和 H3D 用户变量查看条件，并补充本机脚本的构建门、提交当前工作区改动。当前数值闭环已经建立，接下来的关键问题是模型能否代表真实材料。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OpenRadioss_Group_Meeting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OpenRadioss_Group_Meeting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819150" y="1615440"/>
            <a:ext cx="8386523" cy="1398270"/>
            <a:chOff x="819150" y="1615440"/>
            <a:chExt cx="8386523" cy="1398270"/>
          </a:xfrm>
        </p:grpSpPr>
        <p:sp>
          <p:nvSpPr>
            <p:cNvPr id="2" name="TextBox 2"/>
            <p:cNvSpPr txBox="1"/>
            <p:nvPr/>
          </p:nvSpPr>
          <p:spPr>
            <a:xfrm>
              <a:off x="867156" y="1615440"/>
              <a:ext cx="26795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组会汇报 · 2026.09—10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819150" y="2194560"/>
              <a:ext cx="8386523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OpenRadioss 本机二次开发进展</a:t>
              </a:r>
            </a:p>
          </p:txBody>
        </p:sp>
        <p:sp>
          <p:nvSpPr>
            <p:cNvPr id="4" name="Freeform 4"/>
            <p:cNvSpPr/>
            <p:nvPr/>
          </p:nvSpPr>
          <p:spPr>
            <a:xfrm>
              <a:off x="876300" y="2809875"/>
              <a:ext cx="7772400" cy="190500"/>
            </a:xfrm>
            <a:custGeom>
              <a:avLst/>
              <a:gdLst/>
              <a:ahLst/>
              <a:cxnLst/>
              <a:rect l="l" t="t" r="r" b="b"/>
              <a:pathLst>
                <a:path w="7772400" h="190500">
                  <a:moveTo>
                    <a:pt x="0" y="95250"/>
                  </a:moveTo>
                  <a:cubicBezTo>
                    <a:pt x="1600200" y="0"/>
                    <a:pt x="3124200" y="190500"/>
                    <a:pt x="4743450" y="85725"/>
                  </a:cubicBezTo>
                  <a:cubicBezTo>
                    <a:pt x="5886450" y="19050"/>
                    <a:pt x="6838950" y="133350"/>
                    <a:pt x="7772400" y="57150"/>
                  </a:cubicBezTo>
                </a:path>
              </a:pathLst>
            </a:custGeom>
            <a:noFill/>
            <a:ln w="66675" cap="rnd">
              <a:solidFill>
                <a:schemeClr val="accent3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883158" y="3360420"/>
            <a:ext cx="7132320" cy="912114"/>
            <a:chOff x="883158" y="3360420"/>
            <a:chExt cx="7132320" cy="912114"/>
          </a:xfrm>
        </p:grpSpPr>
        <p:sp>
          <p:nvSpPr>
            <p:cNvPr id="6" name="TextBox 6"/>
            <p:cNvSpPr txBox="1"/>
            <p:nvPr/>
          </p:nvSpPr>
          <p:spPr>
            <a:xfrm>
              <a:off x="883158" y="3360420"/>
              <a:ext cx="7132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从源码能编译，推进到用户本构可运行并可后处理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05256" y="3920490"/>
              <a:ext cx="56642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统计区间 2026-09-08 至 2026-10-08　·　9 次提交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09650" y="5172075"/>
            <a:ext cx="10086975" cy="367284"/>
            <a:chOff x="1009650" y="5172075"/>
            <a:chExt cx="10086975" cy="367284"/>
          </a:xfrm>
        </p:grpSpPr>
        <p:sp>
          <p:nvSpPr>
            <p:cNvPr id="9" name="Freeform 9"/>
            <p:cNvSpPr/>
            <p:nvPr/>
          </p:nvSpPr>
          <p:spPr>
            <a:xfrm>
              <a:off x="1009650" y="5238750"/>
              <a:ext cx="10086975" cy="123825"/>
            </a:xfrm>
            <a:custGeom>
              <a:avLst/>
              <a:gdLst/>
              <a:ahLst/>
              <a:cxnLst/>
              <a:rect l="l" t="t" r="r" b="b"/>
              <a:pathLst>
                <a:path w="10086975" h="123825">
                  <a:moveTo>
                    <a:pt x="0" y="57150"/>
                  </a:moveTo>
                  <a:cubicBezTo>
                    <a:pt x="2133600" y="0"/>
                    <a:pt x="3848100" y="123825"/>
                    <a:pt x="5991225" y="57150"/>
                  </a:cubicBezTo>
                  <a:cubicBezTo>
                    <a:pt x="7562850" y="9525"/>
                    <a:pt x="8801100" y="95250"/>
                    <a:pt x="10086975" y="38100"/>
                  </a:cubicBez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1095375" y="5172075"/>
              <a:ext cx="247650" cy="2476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5857875" y="5172075"/>
              <a:ext cx="247650" cy="2476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10448925" y="5172075"/>
              <a:ext cx="247650" cy="2476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495806" y="51873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本机构建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258306" y="51873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工程算例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029956" y="5187315"/>
              <a:ext cx="27450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KF LAW99 验证与后处理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888492" y="6255068"/>
            <a:ext cx="261176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计算力学课题组 · OpenRadioss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66750" y="365760"/>
            <a:ext cx="5692140" cy="819150"/>
            <a:chOff x="666750" y="365760"/>
            <a:chExt cx="5692140" cy="819150"/>
          </a:xfrm>
        </p:grpSpPr>
        <p:sp>
          <p:nvSpPr>
            <p:cNvPr id="2" name="TextBox 2"/>
            <p:cNvSpPr txBox="1"/>
            <p:nvPr/>
          </p:nvSpPr>
          <p:spPr>
            <a:xfrm>
              <a:off x="666750" y="365760"/>
              <a:ext cx="569214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本月工作的三阶段进展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723900" y="952500"/>
              <a:ext cx="4933950" cy="104775"/>
            </a:xfrm>
            <a:custGeom>
              <a:avLst/>
              <a:gdLst/>
              <a:ahLst/>
              <a:cxnLst/>
              <a:rect l="l" t="t" r="r" b="b"/>
              <a:pathLst>
                <a:path w="4933950" h="104775">
                  <a:moveTo>
                    <a:pt x="0" y="57150"/>
                  </a:moveTo>
                  <a:cubicBezTo>
                    <a:pt x="1752600" y="0"/>
                    <a:pt x="3276600" y="104775"/>
                    <a:pt x="4933950" y="38100"/>
                  </a:cubicBezTo>
                </a:path>
              </a:pathLst>
            </a:custGeom>
            <a:noFill/>
            <a:ln w="38100" cap="rnd">
              <a:solidFill>
                <a:schemeClr val="accent1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809625" y="1714500"/>
            <a:ext cx="2657475" cy="3320034"/>
            <a:chOff x="809625" y="1714500"/>
            <a:chExt cx="2657475" cy="3320034"/>
          </a:xfrm>
        </p:grpSpPr>
        <p:sp>
          <p:nvSpPr>
            <p:cNvPr id="5" name="Ellipse 5"/>
            <p:cNvSpPr/>
            <p:nvPr/>
          </p:nvSpPr>
          <p:spPr>
            <a:xfrm>
              <a:off x="809625" y="1714500"/>
              <a:ext cx="514350" cy="514350"/>
            </a:xfrm>
            <a:prstGeom prst="ellipse">
              <a:avLst/>
            </a:prstGeom>
            <a:solidFill>
              <a:srgbClr val="DCE9FC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17719" y="187261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454658" y="18173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本机构建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7156" y="2453640"/>
              <a:ext cx="16296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09-09 — 09-17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876300" y="2838450"/>
              <a:ext cx="2590800" cy="85725"/>
            </a:xfrm>
            <a:custGeom>
              <a:avLst/>
              <a:gdLst/>
              <a:ahLst/>
              <a:cxnLst/>
              <a:rect l="l" t="t" r="r" b="b"/>
              <a:pathLst>
                <a:path w="2590800" h="85725">
                  <a:moveTo>
                    <a:pt x="0" y="38100"/>
                  </a:moveTo>
                  <a:cubicBezTo>
                    <a:pt x="800100" y="0"/>
                    <a:pt x="1600200" y="85725"/>
                    <a:pt x="2590800" y="28575"/>
                  </a:cubicBezTo>
                </a:path>
              </a:pathLst>
            </a:custGeom>
            <a:noFill/>
            <a:ln w="38100" cap="rnd">
              <a:solidFill>
                <a:schemeClr val="accent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7156" y="3196590"/>
              <a:ext cx="13192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CMake 排错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67156" y="3596640"/>
              <a:ext cx="25480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Starter / Engine 构建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7156" y="39966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冒烟与输入兼容检查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67156" y="46824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双可执行文件可运行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505325" y="1714500"/>
            <a:ext cx="2828925" cy="3320034"/>
            <a:chOff x="4505325" y="1714500"/>
            <a:chExt cx="2828925" cy="3320034"/>
          </a:xfrm>
        </p:grpSpPr>
        <p:sp>
          <p:nvSpPr>
            <p:cNvPr id="15" name="Ellipse 15"/>
            <p:cNvSpPr/>
            <p:nvPr/>
          </p:nvSpPr>
          <p:spPr>
            <a:xfrm>
              <a:off x="4505325" y="1714500"/>
              <a:ext cx="514350" cy="514350"/>
            </a:xfrm>
            <a:prstGeom prst="ellipse">
              <a:avLst/>
            </a:prstGeom>
            <a:solidFill>
              <a:srgbClr val="DDF2E4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613419" y="187261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150358" y="18173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工程算例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62856" y="2453640"/>
              <a:ext cx="16296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09-22 — 09-25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4572000" y="2819400"/>
              <a:ext cx="2762250" cy="123825"/>
            </a:xfrm>
            <a:custGeom>
              <a:avLst/>
              <a:gdLst/>
              <a:ahLst/>
              <a:cxnLst/>
              <a:rect l="l" t="t" r="r" b="b"/>
              <a:pathLst>
                <a:path w="2762250" h="123825">
                  <a:moveTo>
                    <a:pt x="0" y="57150"/>
                  </a:moveTo>
                  <a:cubicBezTo>
                    <a:pt x="895350" y="0"/>
                    <a:pt x="1866900" y="123825"/>
                    <a:pt x="2762250" y="47625"/>
                  </a:cubicBezTo>
                </a:path>
              </a:pathLst>
            </a:custGeom>
            <a:noFill/>
            <a:ln w="38100" cap="rnd">
              <a:solidFill>
                <a:schemeClr val="accent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562856" y="31965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鸟撞风挡自然终止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62856" y="3596640"/>
              <a:ext cx="12177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101 帧动画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62856" y="3996690"/>
              <a:ext cx="212643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气囊展开生成 61 帧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62856" y="46824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实际问题规模运行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8277225" y="1714500"/>
            <a:ext cx="2981325" cy="3320034"/>
            <a:chOff x="8277225" y="1714500"/>
            <a:chExt cx="2981325" cy="3320034"/>
          </a:xfrm>
        </p:grpSpPr>
        <p:sp>
          <p:nvSpPr>
            <p:cNvPr id="25" name="Ellipse 25"/>
            <p:cNvSpPr/>
            <p:nvPr/>
          </p:nvSpPr>
          <p:spPr>
            <a:xfrm>
              <a:off x="8277225" y="1714500"/>
              <a:ext cx="514350" cy="514350"/>
            </a:xfrm>
            <a:prstGeom prst="ellipse">
              <a:avLst/>
            </a:prstGeom>
            <a:solidFill>
              <a:srgbClr val="FFF1C9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385319" y="187261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A16A00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922258" y="1817370"/>
              <a:ext cx="158361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KF LAW99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34756" y="2453640"/>
              <a:ext cx="16296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09-27 — 09-30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8343900" y="2809875"/>
              <a:ext cx="2914650" cy="133350"/>
            </a:xfrm>
            <a:custGeom>
              <a:avLst/>
              <a:gdLst/>
              <a:ahLst/>
              <a:cxnLst/>
              <a:rect l="l" t="t" r="r" b="b"/>
              <a:pathLst>
                <a:path w="2914650" h="133350">
                  <a:moveTo>
                    <a:pt x="0" y="66675"/>
                  </a:moveTo>
                  <a:cubicBezTo>
                    <a:pt x="895350" y="0"/>
                    <a:pt x="1847850" y="133350"/>
                    <a:pt x="2914650" y="57150"/>
                  </a:cubicBezTo>
                </a:path>
              </a:pathLst>
            </a:custGeom>
            <a:noFill/>
            <a:ln w="38100" cap="rnd">
              <a:solidFill>
                <a:schemeClr val="accent3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334756" y="3196590"/>
              <a:ext cx="18222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MinGW 本机适配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34756" y="35966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材料点与单砖验证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34756" y="3996690"/>
              <a:ext cx="20921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动画 / H3D 后处理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34756" y="46824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A16A00"/>
                  </a:solidFill>
                  <a:latin typeface="+mn-lt"/>
                  <a:ea typeface="+mn-ea"/>
                  <a:cs typeface="+mn-cs"/>
                </a:rPr>
                <a:t>数值闭环已建立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752856" y="6044565"/>
            <a:ext cx="825703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重点：已验证软件接口与数值流程；材料预测能力仍待实验标定和模型完善。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66750" y="365760"/>
            <a:ext cx="7653337" cy="819150"/>
            <a:chOff x="666750" y="365760"/>
            <a:chExt cx="7653337" cy="819150"/>
          </a:xfrm>
        </p:grpSpPr>
        <p:sp>
          <p:nvSpPr>
            <p:cNvPr id="2" name="TextBox 2"/>
            <p:cNvSpPr txBox="1"/>
            <p:nvPr/>
          </p:nvSpPr>
          <p:spPr>
            <a:xfrm>
              <a:off x="666750" y="365760"/>
              <a:ext cx="7653337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MinGW gfortran 求解器构建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723900" y="952500"/>
              <a:ext cx="4933950" cy="104775"/>
            </a:xfrm>
            <a:custGeom>
              <a:avLst/>
              <a:gdLst/>
              <a:ahLst/>
              <a:cxnLst/>
              <a:rect l="l" t="t" r="r" b="b"/>
              <a:pathLst>
                <a:path w="4933950" h="104775">
                  <a:moveTo>
                    <a:pt x="0" y="57150"/>
                  </a:moveTo>
                  <a:cubicBezTo>
                    <a:pt x="1752600" y="0"/>
                    <a:pt x="3276600" y="104775"/>
                    <a:pt x="4933950" y="38100"/>
                  </a:cubicBezTo>
                </a:path>
              </a:pathLst>
            </a:custGeom>
            <a:noFill/>
            <a:ln w="38100" cap="rnd">
              <a:solidFill>
                <a:schemeClr val="accent1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806958" y="1615440"/>
            <a:ext cx="8732154" cy="861822"/>
            <a:chOff x="806958" y="1615440"/>
            <a:chExt cx="8732154" cy="861822"/>
          </a:xfrm>
        </p:grpSpPr>
        <p:sp>
          <p:nvSpPr>
            <p:cNvPr id="5" name="TextBox 5"/>
            <p:cNvSpPr txBox="1"/>
            <p:nvPr/>
          </p:nvSpPr>
          <p:spPr>
            <a:xfrm>
              <a:off x="810006" y="16154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环境约束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06958" y="2007870"/>
              <a:ext cx="87321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本机没有 Visual Studio，使用仓库 MinGW gfortran 工具链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29056" y="2762250"/>
            <a:ext cx="4085844" cy="1434084"/>
            <a:chOff x="829056" y="2762250"/>
            <a:chExt cx="4085844" cy="1434084"/>
          </a:xfrm>
        </p:grpSpPr>
        <p:sp>
          <p:nvSpPr>
            <p:cNvPr id="8" name="Freeform 8"/>
            <p:cNvSpPr/>
            <p:nvPr/>
          </p:nvSpPr>
          <p:spPr>
            <a:xfrm>
              <a:off x="838200" y="2762250"/>
              <a:ext cx="4076700" cy="133350"/>
            </a:xfrm>
            <a:custGeom>
              <a:avLst/>
              <a:gdLst/>
              <a:ahLst/>
              <a:cxnLst/>
              <a:rect l="l" t="t" r="r" b="b"/>
              <a:pathLst>
                <a:path w="4076700" h="133350">
                  <a:moveTo>
                    <a:pt x="0" y="57150"/>
                  </a:moveTo>
                  <a:cubicBezTo>
                    <a:pt x="1200150" y="0"/>
                    <a:pt x="2400300" y="133350"/>
                    <a:pt x="4076700" y="47625"/>
                  </a:cubicBezTo>
                </a:path>
              </a:pathLst>
            </a:custGeom>
            <a:noFill/>
            <a:ln w="38100" cap="rnd">
              <a:solidFill>
                <a:schemeClr val="accent3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9056" y="30632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构建排错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29056" y="3501390"/>
              <a:ext cx="28060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CMake 条件比较加引号，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9056" y="38442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兼容新版变量解析。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461760" y="2891790"/>
            <a:ext cx="4722266" cy="981075"/>
            <a:chOff x="6461760" y="2891790"/>
            <a:chExt cx="4722266" cy="981075"/>
          </a:xfrm>
        </p:grpSpPr>
        <p:sp>
          <p:nvSpPr>
            <p:cNvPr id="13" name="TextBox 13"/>
            <p:cNvSpPr txBox="1"/>
            <p:nvPr/>
          </p:nvSpPr>
          <p:spPr>
            <a:xfrm>
              <a:off x="6467856" y="2891790"/>
              <a:ext cx="7643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Engine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61760" y="3286125"/>
              <a:ext cx="173309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36.4 MB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706231" y="3415665"/>
              <a:ext cx="24777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engine_win64_gf.exe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461760" y="4120515"/>
            <a:ext cx="4916119" cy="981075"/>
            <a:chOff x="6461760" y="4120515"/>
            <a:chExt cx="4916119" cy="981075"/>
          </a:xfrm>
        </p:grpSpPr>
        <p:sp>
          <p:nvSpPr>
            <p:cNvPr id="17" name="TextBox 17"/>
            <p:cNvSpPr txBox="1"/>
            <p:nvPr/>
          </p:nvSpPr>
          <p:spPr>
            <a:xfrm>
              <a:off x="6467856" y="4120515"/>
              <a:ext cx="9587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Starter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61760" y="4514850"/>
              <a:ext cx="173309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23.5 MB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706231" y="4644390"/>
              <a:ext cx="26716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starter_win64_gf.exe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29056" y="4777740"/>
            <a:ext cx="4174922" cy="1152144"/>
            <a:chOff x="829056" y="4777740"/>
            <a:chExt cx="4174922" cy="1152144"/>
          </a:xfrm>
        </p:grpSpPr>
        <p:sp>
          <p:nvSpPr>
            <p:cNvPr id="21" name="TextBox 21"/>
            <p:cNvSpPr txBox="1"/>
            <p:nvPr/>
          </p:nvSpPr>
          <p:spPr>
            <a:xfrm>
              <a:off x="829056" y="47777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跑通性检查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9056" y="5215890"/>
              <a:ext cx="41749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TWISBEAM smoke · LS-DYNA .k 输入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9056" y="5577840"/>
              <a:ext cx="280903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并配置 VS Code 调试启动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31342" y="6178868"/>
            <a:ext cx="4166406" cy="264033"/>
            <a:chOff x="831342" y="6178868"/>
            <a:chExt cx="4166406" cy="264033"/>
          </a:xfrm>
        </p:grpSpPr>
        <p:sp>
          <p:nvSpPr>
            <p:cNvPr id="25" name="TextBox 25"/>
            <p:cNvSpPr txBox="1"/>
            <p:nvPr/>
          </p:nvSpPr>
          <p:spPr>
            <a:xfrm>
              <a:off x="831342" y="6178868"/>
              <a:ext cx="41664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构建于 2026-09-15；`_gf` 表示 gfortran 版本。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66750" y="365760"/>
            <a:ext cx="4991100" cy="819150"/>
            <a:chOff x="666750" y="365760"/>
            <a:chExt cx="4991100" cy="819150"/>
          </a:xfrm>
        </p:grpSpPr>
        <p:sp>
          <p:nvSpPr>
            <p:cNvPr id="2" name="TextBox 2"/>
            <p:cNvSpPr txBox="1"/>
            <p:nvPr/>
          </p:nvSpPr>
          <p:spPr>
            <a:xfrm>
              <a:off x="666750" y="365760"/>
              <a:ext cx="456133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工程算例运行记录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723900" y="952500"/>
              <a:ext cx="4933950" cy="104775"/>
            </a:xfrm>
            <a:custGeom>
              <a:avLst/>
              <a:gdLst/>
              <a:ahLst/>
              <a:cxnLst/>
              <a:rect l="l" t="t" r="r" b="b"/>
              <a:pathLst>
                <a:path w="4933950" h="104775">
                  <a:moveTo>
                    <a:pt x="0" y="57150"/>
                  </a:moveTo>
                  <a:cubicBezTo>
                    <a:pt x="1752600" y="0"/>
                    <a:pt x="3276600" y="104775"/>
                    <a:pt x="4933950" y="38100"/>
                  </a:cubicBezTo>
                </a:path>
              </a:pathLst>
            </a:custGeom>
            <a:noFill/>
            <a:ln w="38100" cap="rnd">
              <a:solidFill>
                <a:schemeClr val="accent2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826008" y="1760220"/>
            <a:ext cx="4525030" cy="3117342"/>
            <a:chOff x="826008" y="1760220"/>
            <a:chExt cx="4525030" cy="3117342"/>
          </a:xfrm>
        </p:grpSpPr>
        <p:sp>
          <p:nvSpPr>
            <p:cNvPr id="5" name="TextBox 5"/>
            <p:cNvSpPr txBox="1"/>
            <p:nvPr/>
          </p:nvSpPr>
          <p:spPr>
            <a:xfrm>
              <a:off x="826008" y="1760220"/>
              <a:ext cx="35442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Bird Strike · 鸟撞风挡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29818" y="2279332"/>
              <a:ext cx="4048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官方 Example 49 · SPH 鸟体 + 风挡壳体</a:t>
              </a:r>
            </a:p>
          </p:txBody>
        </p:sp>
        <p:sp>
          <p:nvSpPr>
            <p:cNvPr id="7" name="Freeform 7"/>
            <p:cNvSpPr/>
            <p:nvPr/>
          </p:nvSpPr>
          <p:spPr>
            <a:xfrm>
              <a:off x="838200" y="2609850"/>
              <a:ext cx="4381500" cy="114300"/>
            </a:xfrm>
            <a:custGeom>
              <a:avLst/>
              <a:gdLst/>
              <a:ahLst/>
              <a:cxnLst/>
              <a:rect l="l" t="t" r="r" b="b"/>
              <a:pathLst>
                <a:path w="4381500" h="114300">
                  <a:moveTo>
                    <a:pt x="0" y="47625"/>
                  </a:moveTo>
                  <a:cubicBezTo>
                    <a:pt x="1352550" y="0"/>
                    <a:pt x="2857500" y="114300"/>
                    <a:pt x="4381500" y="38100"/>
                  </a:cubicBezTo>
                </a:path>
              </a:pathLst>
            </a:custGeom>
            <a:noFill/>
            <a:ln w="38100" cap="rnd">
              <a:solidFill>
                <a:schemeClr val="accent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48106" y="2948940"/>
              <a:ext cx="9587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Starter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657856" y="2948940"/>
              <a:ext cx="14834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 ERROR(S)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8106" y="3368040"/>
              <a:ext cx="7643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Engine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657856" y="3368040"/>
              <a:ext cx="26931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NORMAL TERMINATION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5058" y="3836670"/>
              <a:ext cx="114388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16,634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372106" y="3901440"/>
              <a:ext cx="7573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cycles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702558" y="3836670"/>
              <a:ext cx="124565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3,042 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5058" y="4408170"/>
              <a:ext cx="58413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10106" y="4472940"/>
              <a:ext cx="19129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帧动画 · 266 MB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521958" y="1760220"/>
            <a:ext cx="4725225" cy="2983230"/>
            <a:chOff x="6521958" y="1760220"/>
            <a:chExt cx="4725225" cy="2983230"/>
          </a:xfrm>
        </p:grpSpPr>
        <p:sp>
          <p:nvSpPr>
            <p:cNvPr id="18" name="TextBox 18"/>
            <p:cNvSpPr txBox="1"/>
            <p:nvPr/>
          </p:nvSpPr>
          <p:spPr>
            <a:xfrm>
              <a:off x="6521958" y="1760220"/>
              <a:ext cx="47252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Airbag Deployment · 气囊展开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25768" y="2279332"/>
              <a:ext cx="31499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LS-DYNA 格式输入卡 · 420 KB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6534150" y="2600325"/>
              <a:ext cx="4371975" cy="133350"/>
            </a:xfrm>
            <a:custGeom>
              <a:avLst/>
              <a:gdLst/>
              <a:ahLst/>
              <a:cxnLst/>
              <a:rect l="l" t="t" r="r" b="b"/>
              <a:pathLst>
                <a:path w="4371975" h="133350">
                  <a:moveTo>
                    <a:pt x="0" y="57150"/>
                  </a:moveTo>
                  <a:cubicBezTo>
                    <a:pt x="1314450" y="0"/>
                    <a:pt x="2705100" y="133350"/>
                    <a:pt x="4371975" y="47625"/>
                  </a:cubicBezTo>
                </a:path>
              </a:pathLst>
            </a:custGeom>
            <a:noFill/>
            <a:ln w="38100" cap="rnd">
              <a:solidFill>
                <a:schemeClr val="accent3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44056" y="31775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输出动画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560308" y="3112770"/>
              <a:ext cx="82241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61 帧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553200" y="3752850"/>
              <a:ext cx="4133850" cy="990600"/>
            </a:xfrm>
            <a:prstGeom prst="roundRect">
              <a:avLst>
                <a:gd name="adj" fmla="val 7692"/>
              </a:avLst>
            </a:prstGeom>
            <a:solidFill>
              <a:srgbClr val="FFF1C9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72656" y="3949065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7A5200"/>
                  </a:solidFill>
                  <a:latin typeface="+mn-lt"/>
                  <a:ea typeface="+mn-ea"/>
                  <a:cs typeface="+mn-cs"/>
                </a:rPr>
                <a:t>此次未自然终止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72656" y="4320540"/>
              <a:ext cx="40379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日志到 A042 时由 CTRL-C 手工中断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48868" y="5803582"/>
            <a:ext cx="6902577" cy="322707"/>
            <a:chOff x="848868" y="5803582"/>
            <a:chExt cx="6902577" cy="322707"/>
          </a:xfrm>
        </p:grpSpPr>
        <p:sp>
          <p:nvSpPr>
            <p:cNvPr id="27" name="TextBox 27"/>
            <p:cNvSpPr txBox="1"/>
            <p:nvPr/>
          </p:nvSpPr>
          <p:spPr>
            <a:xfrm>
              <a:off x="848868" y="5803582"/>
              <a:ext cx="69025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两类算例证明求解器可处理工程输入；完成状态按各自运行日志区分。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66750" y="365760"/>
            <a:ext cx="7734209" cy="819150"/>
            <a:chOff x="666750" y="365760"/>
            <a:chExt cx="7734209" cy="819150"/>
          </a:xfrm>
        </p:grpSpPr>
        <p:sp>
          <p:nvSpPr>
            <p:cNvPr id="2" name="TextBox 2"/>
            <p:cNvSpPr txBox="1"/>
            <p:nvPr/>
          </p:nvSpPr>
          <p:spPr>
            <a:xfrm>
              <a:off x="666750" y="365760"/>
              <a:ext cx="7734209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KF LAW99 动态用户本构接入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723900" y="952500"/>
              <a:ext cx="4933950" cy="104775"/>
            </a:xfrm>
            <a:custGeom>
              <a:avLst/>
              <a:gdLst/>
              <a:ahLst/>
              <a:cxnLst/>
              <a:rect l="l" t="t" r="r" b="b"/>
              <a:pathLst>
                <a:path w="4933950" h="104775">
                  <a:moveTo>
                    <a:pt x="0" y="57150"/>
                  </a:moveTo>
                  <a:cubicBezTo>
                    <a:pt x="1752600" y="0"/>
                    <a:pt x="3276600" y="104775"/>
                    <a:pt x="4933950" y="38100"/>
                  </a:cubicBezTo>
                </a:path>
              </a:pathLst>
            </a:custGeom>
            <a:noFill/>
            <a:ln w="38100" cap="rnd">
              <a:solidFill>
                <a:schemeClr val="accent3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867156" y="1844040"/>
            <a:ext cx="10558348" cy="1356360"/>
            <a:chOff x="867156" y="1844040"/>
            <a:chExt cx="10558348" cy="1356360"/>
          </a:xfrm>
        </p:grpSpPr>
        <p:sp>
          <p:nvSpPr>
            <p:cNvPr id="5" name="TextBox 5"/>
            <p:cNvSpPr txBox="1"/>
            <p:nvPr/>
          </p:nvSpPr>
          <p:spPr>
            <a:xfrm>
              <a:off x="867156" y="18440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材料卡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876300" y="2286000"/>
              <a:ext cx="2514600" cy="914400"/>
            </a:xfrm>
            <a:prstGeom prst="roundRect">
              <a:avLst>
                <a:gd name="adj" fmla="val 8333"/>
              </a:avLst>
            </a:prstGeom>
            <a:solidFill>
              <a:srgbClr val="E8F0FE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01268" y="2407920"/>
              <a:ext cx="22646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/MAT/USER02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586789" y="2796540"/>
              <a:ext cx="10936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IUSER = 2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3467100" y="2705100"/>
              <a:ext cx="1447800" cy="104775"/>
            </a:xfrm>
            <a:custGeom>
              <a:avLst/>
              <a:gdLst/>
              <a:ahLst/>
              <a:cxnLst/>
              <a:rect l="l" t="t" r="r" b="b"/>
              <a:pathLst>
                <a:path w="1447800" h="104775">
                  <a:moveTo>
                    <a:pt x="0" y="47625"/>
                  </a:moveTo>
                  <a:cubicBezTo>
                    <a:pt x="533400" y="0"/>
                    <a:pt x="895350" y="104775"/>
                    <a:pt x="1447800" y="47625"/>
                  </a:cubicBezTo>
                </a:path>
              </a:pathLst>
            </a:custGeom>
            <a:noFill/>
            <a:ln w="38100" cap="rnd">
              <a:solidFill>
                <a:schemeClr val="accent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058156" y="18440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求解器映射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067300" y="2286000"/>
              <a:ext cx="2514600" cy="914400"/>
            </a:xfrm>
            <a:prstGeom prst="roundRect">
              <a:avLst>
                <a:gd name="adj" fmla="val 8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23829" y="2407920"/>
              <a:ext cx="160154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ILAW = 99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43372" y="2796540"/>
              <a:ext cx="13624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LAW99 入口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7658100" y="2705100"/>
              <a:ext cx="1447800" cy="104775"/>
            </a:xfrm>
            <a:custGeom>
              <a:avLst/>
              <a:gdLst/>
              <a:ahLst/>
              <a:cxnLst/>
              <a:rect l="l" t="t" r="r" b="b"/>
              <a:pathLst>
                <a:path w="1447800" h="104775">
                  <a:moveTo>
                    <a:pt x="0" y="47625"/>
                  </a:moveTo>
                  <a:cubicBezTo>
                    <a:pt x="533400" y="0"/>
                    <a:pt x="914400" y="104775"/>
                    <a:pt x="1447800" y="47625"/>
                  </a:cubicBezTo>
                </a:path>
              </a:pathLst>
            </a:custGeom>
            <a:noFill/>
            <a:ln w="38100" cap="rnd">
              <a:solidFill>
                <a:schemeClr val="accent2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49156" y="18440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动态用户库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9258300" y="2286000"/>
              <a:ext cx="2038350" cy="914400"/>
            </a:xfrm>
            <a:prstGeom prst="roundRect">
              <a:avLst>
                <a:gd name="adj" fmla="val 8333"/>
              </a:avLst>
            </a:prstGeom>
            <a:solidFill>
              <a:srgbClr val="DDF2E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672996" y="2407920"/>
              <a:ext cx="120895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KF 模型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129446" y="2796540"/>
              <a:ext cx="22960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25 参数 · 8 状态变量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05256" y="4206240"/>
            <a:ext cx="9252212" cy="1971294"/>
            <a:chOff x="905256" y="4206240"/>
            <a:chExt cx="9252212" cy="1971294"/>
          </a:xfrm>
        </p:grpSpPr>
        <p:sp>
          <p:nvSpPr>
            <p:cNvPr id="20" name="TextBox 20"/>
            <p:cNvSpPr txBox="1"/>
            <p:nvPr/>
          </p:nvSpPr>
          <p:spPr>
            <a:xfrm>
              <a:off x="905256" y="4206240"/>
              <a:ext cx="426388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从开发机迁移到本机 MinGW gfortran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933450" y="4552950"/>
              <a:ext cx="6438900" cy="133350"/>
            </a:xfrm>
            <a:custGeom>
              <a:avLst/>
              <a:gdLst/>
              <a:ahLst/>
              <a:cxnLst/>
              <a:rect l="l" t="t" r="r" b="b"/>
              <a:pathLst>
                <a:path w="6438900" h="133350">
                  <a:moveTo>
                    <a:pt x="0" y="66675"/>
                  </a:moveTo>
                  <a:cubicBezTo>
                    <a:pt x="2190750" y="0"/>
                    <a:pt x="4191000" y="133350"/>
                    <a:pt x="6438900" y="57150"/>
                  </a:cubicBez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43356" y="49491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原环境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0308" y="5246370"/>
              <a:ext cx="247973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MSVC / VS2022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3562350" y="5162550"/>
              <a:ext cx="2590800" cy="171450"/>
            </a:xfrm>
            <a:custGeom>
              <a:avLst/>
              <a:gdLst/>
              <a:ahLst/>
              <a:cxnLst/>
              <a:rect l="l" t="t" r="r" b="b"/>
              <a:pathLst>
                <a:path w="2590800" h="171450">
                  <a:moveTo>
                    <a:pt x="0" y="76200"/>
                  </a:moveTo>
                  <a:cubicBezTo>
                    <a:pt x="895350" y="0"/>
                    <a:pt x="1676400" y="171450"/>
                    <a:pt x="2590800" y="76200"/>
                  </a:cubicBezTo>
                </a:path>
              </a:pathLst>
            </a:custGeom>
            <a:noFill/>
            <a:ln w="38100" cap="rnd">
              <a:solidFill>
                <a:schemeClr val="accent3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0706" y="494919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本机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07658" y="5246370"/>
              <a:ext cx="374981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MinGW-w64 / gfortran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05256" y="5825490"/>
              <a:ext cx="68031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改动范围小：无需重编译求解器，也无需改项目源码或测试卡。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66750" y="365760"/>
            <a:ext cx="6822948" cy="819150"/>
            <a:chOff x="666750" y="365760"/>
            <a:chExt cx="6822948" cy="819150"/>
          </a:xfrm>
        </p:grpSpPr>
        <p:sp>
          <p:nvSpPr>
            <p:cNvPr id="2" name="TextBox 2"/>
            <p:cNvSpPr txBox="1"/>
            <p:nvPr/>
          </p:nvSpPr>
          <p:spPr>
            <a:xfrm>
              <a:off x="666750" y="365760"/>
              <a:ext cx="682294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本机适配与自动化运行流程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723900" y="952500"/>
              <a:ext cx="4933950" cy="104775"/>
            </a:xfrm>
            <a:custGeom>
              <a:avLst/>
              <a:gdLst/>
              <a:ahLst/>
              <a:cxnLst/>
              <a:rect l="l" t="t" r="r" b="b"/>
              <a:pathLst>
                <a:path w="4933950" h="104775">
                  <a:moveTo>
                    <a:pt x="0" y="57150"/>
                  </a:moveTo>
                  <a:cubicBezTo>
                    <a:pt x="1752600" y="0"/>
                    <a:pt x="3276600" y="104775"/>
                    <a:pt x="4933950" y="38100"/>
                  </a:cubicBezTo>
                </a:path>
              </a:pathLst>
            </a:custGeom>
            <a:noFill/>
            <a:ln w="38100" cap="rnd">
              <a:solidFill>
                <a:schemeClr val="accent1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924306" y="2038350"/>
            <a:ext cx="10327081" cy="1752600"/>
            <a:chOff x="924306" y="2038350"/>
            <a:chExt cx="10327081" cy="1752600"/>
          </a:xfrm>
        </p:grpSpPr>
        <p:sp>
          <p:nvSpPr>
            <p:cNvPr id="5" name="Freeform 5"/>
            <p:cNvSpPr/>
            <p:nvPr/>
          </p:nvSpPr>
          <p:spPr>
            <a:xfrm>
              <a:off x="1295400" y="2152650"/>
              <a:ext cx="9677400" cy="123825"/>
            </a:xfrm>
            <a:custGeom>
              <a:avLst/>
              <a:gdLst/>
              <a:ahLst/>
              <a:cxnLst/>
              <a:rect l="l" t="t" r="r" b="b"/>
              <a:pathLst>
                <a:path w="9677400" h="123825">
                  <a:moveTo>
                    <a:pt x="0" y="57150"/>
                  </a:moveTo>
                  <a:cubicBezTo>
                    <a:pt x="2533650" y="0"/>
                    <a:pt x="4648200" y="123825"/>
                    <a:pt x="7200900" y="47625"/>
                  </a:cubicBezTo>
                  <a:cubicBezTo>
                    <a:pt x="8382000" y="9525"/>
                    <a:pt x="9086850" y="76200"/>
                    <a:pt x="9677400" y="47625"/>
                  </a:cubicBezTo>
                </a:path>
              </a:pathLst>
            </a:custGeom>
            <a:noFill/>
            <a:ln w="47625">
              <a:solidFill>
                <a:schemeClr val="accent6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1200150" y="203835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3924300" y="203835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6648450" y="2038350"/>
              <a:ext cx="342900" cy="34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9391650" y="2038350"/>
              <a:ext cx="342900" cy="34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0506" y="2586990"/>
              <a:ext cx="10545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构建 DLL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24306" y="2987040"/>
              <a:ext cx="15794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Ninja + MinGW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24656" y="258699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材料点验证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858006" y="2987040"/>
              <a:ext cx="9512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8 项检查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86906" y="2586990"/>
              <a:ext cx="20843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Starter / Engine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486906" y="29870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单砖与多单元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249156" y="25869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结果转换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287256" y="2987040"/>
              <a:ext cx="19641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 动画 / T01 CSV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990600" y="3619500"/>
              <a:ext cx="9963150" cy="171450"/>
            </a:xfrm>
            <a:custGeom>
              <a:avLst/>
              <a:gdLst/>
              <a:ahLst/>
              <a:cxnLst/>
              <a:rect l="l" t="t" r="r" b="b"/>
              <a:pathLst>
                <a:path w="9963150" h="171450">
                  <a:moveTo>
                    <a:pt x="0" y="76200"/>
                  </a:moveTo>
                  <a:cubicBezTo>
                    <a:pt x="2590800" y="0"/>
                    <a:pt x="5562600" y="171450"/>
                    <a:pt x="9963150" y="66675"/>
                  </a:cubicBezTo>
                </a:path>
              </a:pathLst>
            </a:custGeom>
            <a:noFill/>
            <a:ln w="38100" cap="rnd">
              <a:solidFill>
                <a:schemeClr val="accent3"/>
              </a:solidFill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867156" y="4625340"/>
            <a:ext cx="7498519" cy="1628394"/>
            <a:chOff x="867156" y="4625340"/>
            <a:chExt cx="7498519" cy="1628394"/>
          </a:xfrm>
        </p:grpSpPr>
        <p:sp>
          <p:nvSpPr>
            <p:cNvPr id="20" name="TextBox 20"/>
            <p:cNvSpPr txBox="1"/>
            <p:nvPr/>
          </p:nvSpPr>
          <p:spPr>
            <a:xfrm>
              <a:off x="867156" y="46253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适配要点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67156" y="5063490"/>
              <a:ext cx="71103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运行时镜像用硬链接复用 GF 求解器与配置，提供兼容文件名。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7156" y="5482590"/>
              <a:ext cx="74985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`libgcc_s_seh-1.dll` 与用户库同目录，满足 Python ctypes 加载。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7156" y="5901690"/>
              <a:ext cx="65608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脚本自动检查工具链与转换器路径；编译或验证失败即停止。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66750" y="365760"/>
            <a:ext cx="5692140" cy="819150"/>
            <a:chOff x="666750" y="365760"/>
            <a:chExt cx="5692140" cy="819150"/>
          </a:xfrm>
        </p:grpSpPr>
        <p:sp>
          <p:nvSpPr>
            <p:cNvPr id="2" name="TextBox 2"/>
            <p:cNvSpPr txBox="1"/>
            <p:nvPr/>
          </p:nvSpPr>
          <p:spPr>
            <a:xfrm>
              <a:off x="666750" y="365760"/>
              <a:ext cx="569214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材料点与单砖验证结果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723900" y="952500"/>
              <a:ext cx="4933950" cy="104775"/>
            </a:xfrm>
            <a:custGeom>
              <a:avLst/>
              <a:gdLst/>
              <a:ahLst/>
              <a:cxnLst/>
              <a:rect l="l" t="t" r="r" b="b"/>
              <a:pathLst>
                <a:path w="4933950" h="104775">
                  <a:moveTo>
                    <a:pt x="0" y="57150"/>
                  </a:moveTo>
                  <a:cubicBezTo>
                    <a:pt x="1752600" y="0"/>
                    <a:pt x="3276600" y="104775"/>
                    <a:pt x="4933950" y="38100"/>
                  </a:cubicBezTo>
                </a:path>
              </a:pathLst>
            </a:custGeom>
            <a:noFill/>
            <a:ln w="38100" cap="rnd">
              <a:solidFill>
                <a:schemeClr val="accent2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819150" y="1844040"/>
            <a:ext cx="4533900" cy="3895344"/>
            <a:chOff x="819150" y="1844040"/>
            <a:chExt cx="4533900" cy="3895344"/>
          </a:xfrm>
        </p:grpSpPr>
        <p:sp>
          <p:nvSpPr>
            <p:cNvPr id="5" name="TextBox 5"/>
            <p:cNvSpPr txBox="1"/>
            <p:nvPr/>
          </p:nvSpPr>
          <p:spPr>
            <a:xfrm>
              <a:off x="829056" y="1844040"/>
              <a:ext cx="18226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DLL 材料点矩阵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19150" y="2385060"/>
              <a:ext cx="1373867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8 / 8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29056" y="3006090"/>
              <a:ext cx="16824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检查全部 PASS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857250" y="3371850"/>
              <a:ext cx="4495800" cy="123825"/>
            </a:xfrm>
            <a:custGeom>
              <a:avLst/>
              <a:gdLst/>
              <a:ahLst/>
              <a:cxnLst/>
              <a:rect l="l" t="t" r="r" b="b"/>
              <a:pathLst>
                <a:path w="4495800" h="123825">
                  <a:moveTo>
                    <a:pt x="0" y="57150"/>
                  </a:moveTo>
                  <a:cubicBezTo>
                    <a:pt x="1333500" y="0"/>
                    <a:pt x="2762250" y="123825"/>
                    <a:pt x="4495800" y="47625"/>
                  </a:cubicBezTo>
                </a:path>
              </a:pathLst>
            </a:custGeom>
            <a:noFill/>
            <a:ln w="38100" cap="rnd">
              <a:solidFill>
                <a:schemeClr val="accent2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48106" y="3691890"/>
              <a:ext cx="29987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静水压缩 · 单轴压缩 / 拉伸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8106" y="4091940"/>
              <a:ext cx="1993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简单剪切 · 客观性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8106" y="4491990"/>
              <a:ext cx="27201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应变率效应 · 冲击率扫描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8106" y="48920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大静水压缩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8106" y="5387340"/>
              <a:ext cx="24349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P-alpha 压力误差 = 0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464808" y="1844040"/>
            <a:ext cx="5069083" cy="3742944"/>
            <a:chOff x="6464808" y="1844040"/>
            <a:chExt cx="5069083" cy="3742944"/>
          </a:xfrm>
        </p:grpSpPr>
        <p:sp>
          <p:nvSpPr>
            <p:cNvPr id="15" name="TextBox 15"/>
            <p:cNvSpPr txBox="1"/>
            <p:nvPr/>
          </p:nvSpPr>
          <p:spPr>
            <a:xfrm>
              <a:off x="6467856" y="1844040"/>
              <a:ext cx="26169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OpenRadioss 单砖求解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64808" y="2503170"/>
              <a:ext cx="367751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Starter · 0 ERROR(S)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67856" y="3025140"/>
              <a:ext cx="35989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Engine · NORMAL TERMINATION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67856" y="3501390"/>
              <a:ext cx="29299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 cycles · T01 CSV 4 × 55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6496050" y="3905250"/>
              <a:ext cx="4495800" cy="123825"/>
            </a:xfrm>
            <a:custGeom>
              <a:avLst/>
              <a:gdLst/>
              <a:ahLst/>
              <a:cxnLst/>
              <a:rect l="l" t="t" r="r" b="b"/>
              <a:pathLst>
                <a:path w="4495800" h="123825">
                  <a:moveTo>
                    <a:pt x="0" y="57150"/>
                  </a:moveTo>
                  <a:cubicBezTo>
                    <a:pt x="1276350" y="0"/>
                    <a:pt x="2724150" y="123825"/>
                    <a:pt x="4495800" y="47625"/>
                  </a:cubicBezTo>
                </a:path>
              </a:pathLst>
            </a:custGeom>
            <a:noFill/>
            <a:ln w="38100" cap="rnd">
              <a:solidFill>
                <a:schemeClr val="accent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86906" y="4244340"/>
              <a:ext cx="504698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Step 11 自动门：4 PASS / 3 NOT_CERTIFIED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86906" y="4682490"/>
              <a:ext cx="48646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未认证项依赖实验、冲击基准或正则化证据。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86906" y="523494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这里验证的是接口和数值闭环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67156" y="6120765"/>
            <a:ext cx="5349240" cy="352044"/>
            <a:chOff x="867156" y="6120765"/>
            <a:chExt cx="5349240" cy="352044"/>
          </a:xfrm>
        </p:grpSpPr>
        <p:sp>
          <p:nvSpPr>
            <p:cNvPr id="24" name="TextBox 24"/>
            <p:cNvSpPr txBox="1"/>
            <p:nvPr/>
          </p:nvSpPr>
          <p:spPr>
            <a:xfrm>
              <a:off x="867156" y="6120765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并不等于实验标定，也不等于复杂冲击算例验证。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66750" y="365760"/>
            <a:ext cx="6400028" cy="819150"/>
            <a:chOff x="666750" y="365760"/>
            <a:chExt cx="6400028" cy="819150"/>
          </a:xfrm>
        </p:grpSpPr>
        <p:sp>
          <p:nvSpPr>
            <p:cNvPr id="2" name="TextBox 2"/>
            <p:cNvSpPr txBox="1"/>
            <p:nvPr/>
          </p:nvSpPr>
          <p:spPr>
            <a:xfrm>
              <a:off x="666750" y="365760"/>
              <a:ext cx="640002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Step 11 清单的认证边界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723900" y="952500"/>
              <a:ext cx="4933950" cy="104775"/>
            </a:xfrm>
            <a:custGeom>
              <a:avLst/>
              <a:gdLst/>
              <a:ahLst/>
              <a:cxnLst/>
              <a:rect l="l" t="t" r="r" b="b"/>
              <a:pathLst>
                <a:path w="4933950" h="104775">
                  <a:moveTo>
                    <a:pt x="0" y="57150"/>
                  </a:moveTo>
                  <a:cubicBezTo>
                    <a:pt x="1752600" y="0"/>
                    <a:pt x="3276600" y="104775"/>
                    <a:pt x="4933950" y="38100"/>
                  </a:cubicBezTo>
                </a:path>
              </a:pathLst>
            </a:custGeom>
            <a:noFill/>
            <a:ln w="38100" cap="rnd">
              <a:solidFill>
                <a:schemeClr val="accent3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826008" y="1741170"/>
            <a:ext cx="4450842" cy="2512314"/>
            <a:chOff x="826008" y="1741170"/>
            <a:chExt cx="4450842" cy="2512314"/>
          </a:xfrm>
        </p:grpSpPr>
        <p:sp>
          <p:nvSpPr>
            <p:cNvPr id="5" name="TextBox 5"/>
            <p:cNvSpPr txBox="1"/>
            <p:nvPr/>
          </p:nvSpPr>
          <p:spPr>
            <a:xfrm>
              <a:off x="826008" y="1741170"/>
              <a:ext cx="156655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4 项 PASS</a:t>
              </a:r>
            </a:p>
          </p:txBody>
        </p:sp>
        <p:sp>
          <p:nvSpPr>
            <p:cNvPr id="6" name="Freeform 6"/>
            <p:cNvSpPr/>
            <p:nvPr/>
          </p:nvSpPr>
          <p:spPr>
            <a:xfrm>
              <a:off x="857250" y="2152650"/>
              <a:ext cx="4419600" cy="123825"/>
            </a:xfrm>
            <a:custGeom>
              <a:avLst/>
              <a:gdLst/>
              <a:ahLst/>
              <a:cxnLst/>
              <a:rect l="l" t="t" r="r" b="b"/>
              <a:pathLst>
                <a:path w="4419600" h="123825">
                  <a:moveTo>
                    <a:pt x="0" y="57150"/>
                  </a:moveTo>
                  <a:cubicBezTo>
                    <a:pt x="1181100" y="0"/>
                    <a:pt x="2686050" y="123825"/>
                    <a:pt x="4419600" y="47625"/>
                  </a:cubicBezTo>
                </a:path>
              </a:pathLst>
            </a:custGeom>
            <a:noFill/>
            <a:ln w="38100" cap="rnd">
              <a:solidFill>
                <a:schemeClr val="accent2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48106" y="2529840"/>
              <a:ext cx="179771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DLL 材料点矩阵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48106" y="2987040"/>
              <a:ext cx="226641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P-alpha EOS 一致性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48106" y="34442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材料点步长敏感性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8106" y="3901440"/>
              <a:ext cx="36403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OpenRadioss 单砖 smoke 与 T01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388608" y="1741170"/>
            <a:ext cx="4622292" cy="3255264"/>
            <a:chOff x="6388608" y="1741170"/>
            <a:chExt cx="4622292" cy="3255264"/>
          </a:xfrm>
        </p:grpSpPr>
        <p:sp>
          <p:nvSpPr>
            <p:cNvPr id="12" name="TextBox 12"/>
            <p:cNvSpPr txBox="1"/>
            <p:nvPr/>
          </p:nvSpPr>
          <p:spPr>
            <a:xfrm>
              <a:off x="6388608" y="1741170"/>
              <a:ext cx="323331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A16A00"/>
                  </a:solidFill>
                  <a:latin typeface="+mn-lt"/>
                  <a:ea typeface="+mn-ea"/>
                  <a:cs typeface="+mn-cs"/>
                </a:rPr>
                <a:t>3 项 NOT_CERTIFIED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6419850" y="2152650"/>
              <a:ext cx="4591050" cy="123825"/>
            </a:xfrm>
            <a:custGeom>
              <a:avLst/>
              <a:gdLst/>
              <a:ahLst/>
              <a:cxnLst/>
              <a:rect l="l" t="t" r="r" b="b"/>
              <a:pathLst>
                <a:path w="4591050" h="123825">
                  <a:moveTo>
                    <a:pt x="0" y="57150"/>
                  </a:moveTo>
                  <a:cubicBezTo>
                    <a:pt x="1295400" y="0"/>
                    <a:pt x="2857500" y="123825"/>
                    <a:pt x="4591050" y="47625"/>
                  </a:cubicBezTo>
                </a:path>
              </a:pathLst>
            </a:custGeom>
            <a:noFill/>
            <a:ln w="38100" cap="rnd">
              <a:solidFill>
                <a:schemeClr val="accent3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10706" y="25298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率效应标定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410706" y="2891790"/>
              <a:ext cx="27834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需 SHPB 等动态实验数据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10706" y="34061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冲击基准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10706" y="3768090"/>
              <a:ext cx="30138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需试验数据或对照 FE 案例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10706" y="42824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网格客观性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10706" y="4644390"/>
              <a:ext cx="36893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损伤缺少特征长度 / 断裂能正则化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76300" y="5619750"/>
            <a:ext cx="10287000" cy="552450"/>
            <a:chOff x="876300" y="5619750"/>
            <a:chExt cx="10287000" cy="552450"/>
          </a:xfrm>
        </p:grpSpPr>
        <p:sp>
          <p:nvSpPr>
            <p:cNvPr id="21" name="Rectangle 21"/>
            <p:cNvSpPr/>
            <p:nvPr/>
          </p:nvSpPr>
          <p:spPr>
            <a:xfrm>
              <a:off x="876300" y="5619750"/>
              <a:ext cx="10287000" cy="552450"/>
            </a:xfrm>
            <a:prstGeom prst="roundRect">
              <a:avLst>
                <a:gd name="adj" fmla="val 13793"/>
              </a:avLst>
            </a:prstGeom>
            <a:solidFill>
              <a:srgbClr val="FFF1C9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76706" y="5787390"/>
              <a:ext cx="65490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NOT_CERTIFIED 是预期的证据缺口，不是本机迁移失败。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66750" y="365760"/>
            <a:ext cx="6826148" cy="819150"/>
            <a:chOff x="666750" y="365760"/>
            <a:chExt cx="6826148" cy="819150"/>
          </a:xfrm>
        </p:grpSpPr>
        <p:sp>
          <p:nvSpPr>
            <p:cNvPr id="2" name="TextBox 2"/>
            <p:cNvSpPr txBox="1"/>
            <p:nvPr/>
          </p:nvSpPr>
          <p:spPr>
            <a:xfrm>
              <a:off x="666750" y="365760"/>
              <a:ext cx="682614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动画与 H3D 后处理兼容性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723900" y="952500"/>
              <a:ext cx="4933950" cy="104775"/>
            </a:xfrm>
            <a:custGeom>
              <a:avLst/>
              <a:gdLst/>
              <a:ahLst/>
              <a:cxnLst/>
              <a:rect l="l" t="t" r="r" b="b"/>
              <a:pathLst>
                <a:path w="4933950" h="104775">
                  <a:moveTo>
                    <a:pt x="0" y="57150"/>
                  </a:moveTo>
                  <a:cubicBezTo>
                    <a:pt x="1752600" y="0"/>
                    <a:pt x="3276600" y="104775"/>
                    <a:pt x="4933950" y="38100"/>
                  </a:cubicBezTo>
                </a:path>
              </a:pathLst>
            </a:custGeom>
            <a:noFill/>
            <a:ln w="38100" cap="rnd">
              <a:solidFill>
                <a:schemeClr val="accent1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826008" y="1779270"/>
            <a:ext cx="4488942" cy="3102864"/>
            <a:chOff x="826008" y="1779270"/>
            <a:chExt cx="4488942" cy="3102864"/>
          </a:xfrm>
        </p:grpSpPr>
        <p:sp>
          <p:nvSpPr>
            <p:cNvPr id="5" name="TextBox 5"/>
            <p:cNvSpPr txBox="1"/>
            <p:nvPr/>
          </p:nvSpPr>
          <p:spPr>
            <a:xfrm>
              <a:off x="826008" y="1779270"/>
              <a:ext cx="24814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RADIOSS A 动画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29056" y="2339340"/>
              <a:ext cx="38444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HyperWorks 14 注册 A 文件读取器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29056" y="2777490"/>
              <a:ext cx="28602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A001—A008：示例共 8 帧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857250" y="3181350"/>
              <a:ext cx="4457700" cy="123825"/>
            </a:xfrm>
            <a:custGeom>
              <a:avLst/>
              <a:gdLst/>
              <a:ahLst/>
              <a:cxnLst/>
              <a:rect l="l" t="t" r="r" b="b"/>
              <a:pathLst>
                <a:path w="4457700" h="123825">
                  <a:moveTo>
                    <a:pt x="0" y="57150"/>
                  </a:moveTo>
                  <a:cubicBezTo>
                    <a:pt x="1200150" y="0"/>
                    <a:pt x="2857500" y="123825"/>
                    <a:pt x="4457700" y="47625"/>
                  </a:cubicBezTo>
                </a:path>
              </a:pathLst>
            </a:custGeom>
            <a:noFill/>
            <a:ln w="38100" cap="rnd">
              <a:solidFill>
                <a:schemeClr val="accent2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48106" y="35394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当前可查看位移、坐标、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8106" y="3939540"/>
              <a:ext cx="29624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应力 / 应变与等效塑性应变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8106" y="45300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本机可用路径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464808" y="1779270"/>
            <a:ext cx="4565142" cy="3102864"/>
            <a:chOff x="6464808" y="1779270"/>
            <a:chExt cx="4565142" cy="3102864"/>
          </a:xfrm>
        </p:grpSpPr>
        <p:sp>
          <p:nvSpPr>
            <p:cNvPr id="13" name="TextBox 13"/>
            <p:cNvSpPr txBox="1"/>
            <p:nvPr/>
          </p:nvSpPr>
          <p:spPr>
            <a:xfrm>
              <a:off x="6464808" y="1779270"/>
              <a:ext cx="140610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H3D 结果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67856" y="2339340"/>
              <a:ext cx="29013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当前 writer 输出 H3D v24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467856" y="2777490"/>
              <a:ext cx="36787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HyperWorks 14 reader 无法读取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6496050" y="3181350"/>
              <a:ext cx="4533900" cy="123825"/>
            </a:xfrm>
            <a:custGeom>
              <a:avLst/>
              <a:gdLst/>
              <a:ahLst/>
              <a:cxnLst/>
              <a:rect l="l" t="t" r="r" b="b"/>
              <a:pathLst>
                <a:path w="4533900" h="123825">
                  <a:moveTo>
                    <a:pt x="0" y="57150"/>
                  </a:moveTo>
                  <a:cubicBezTo>
                    <a:pt x="1314450" y="0"/>
                    <a:pt x="2933700" y="123825"/>
                    <a:pt x="4533900" y="47625"/>
                  </a:cubicBezTo>
                </a:path>
              </a:pathLst>
            </a:custGeom>
            <a:noFill/>
            <a:ln w="38100" cap="rnd">
              <a:solidFill>
                <a:schemeClr val="accent3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86906" y="3539490"/>
              <a:ext cx="40549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较新 HyperWorks 才能查看 KF UVAR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86906" y="393954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损伤、孔隙率、压力等内部变量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86906" y="45300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版本限制，不是求解失败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67156" y="5615940"/>
            <a:ext cx="6742024" cy="719899"/>
            <a:chOff x="867156" y="5615940"/>
            <a:chExt cx="6742024" cy="719899"/>
          </a:xfrm>
        </p:grpSpPr>
        <p:sp>
          <p:nvSpPr>
            <p:cNvPr id="21" name="TextBox 21"/>
            <p:cNvSpPr txBox="1"/>
            <p:nvPr/>
          </p:nvSpPr>
          <p:spPr>
            <a:xfrm>
              <a:off x="867156" y="56159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可后处理算例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905506" y="5615940"/>
              <a:ext cx="47036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KF 单砖　·　J2 基线　·　KF 多单元轴压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7918" y="6013132"/>
              <a:ext cx="613059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RADIOSS 动画支持当前环境；H3D 保留为新版本查看能力。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66750" y="308610"/>
            <a:ext cx="7699248" cy="1011174"/>
            <a:chOff x="666750" y="308610"/>
            <a:chExt cx="7699248" cy="1011174"/>
          </a:xfrm>
        </p:grpSpPr>
        <p:sp>
          <p:nvSpPr>
            <p:cNvPr id="2" name="TextBox 2"/>
            <p:cNvSpPr txBox="1"/>
            <p:nvPr/>
          </p:nvSpPr>
          <p:spPr>
            <a:xfrm>
              <a:off x="666750" y="308610"/>
              <a:ext cx="629296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KF 多单元单轴压缩算例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14756" y="967740"/>
              <a:ext cx="76512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160 单元 · 275 节点 · 75 cycles · 10 帧 · 数据：summary.md §15.4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81456" y="1615440"/>
            <a:ext cx="9814789" cy="4095369"/>
            <a:chOff x="981456" y="1615440"/>
            <a:chExt cx="9814789" cy="4095369"/>
          </a:xfrm>
        </p:grpSpPr>
        <p:grpSp>
          <p:nvGrpSpPr>
            <p:cNvPr id="40" name="Group 40"/>
            <p:cNvGrpSpPr/>
            <p:nvPr/>
          </p:nvGrpSpPr>
          <p:grpSpPr>
            <a:xfrm>
              <a:off x="981456" y="1615440"/>
              <a:ext cx="9814789" cy="4095369"/>
              <a:chOff x="981456" y="1615440"/>
              <a:chExt cx="9814789" cy="4095369"/>
            </a:xfrm>
          </p:grpSpPr>
          <p:sp>
            <p:nvSpPr>
              <p:cNvPr id="5" name="Line 5"/>
              <p:cNvSpPr/>
              <p:nvPr/>
            </p:nvSpPr>
            <p:spPr>
              <a:xfrm>
                <a:off x="2286000" y="2266950"/>
                <a:ext cx="9525" cy="256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62225">
                    <a:moveTo>
                      <a:pt x="0" y="0"/>
                    </a:moveTo>
                    <a:lnTo>
                      <a:pt x="0" y="2562225"/>
                    </a:lnTo>
                  </a:path>
                </a:pathLst>
              </a:custGeom>
              <a:noFill/>
              <a:ln w="19050">
                <a:solidFill>
                  <a:srgbClr val="5F6368"/>
                </a:solidFill>
              </a:ln>
            </p:spPr>
          </p:sp>
          <p:sp>
            <p:nvSpPr>
              <p:cNvPr id="6" name="Line 6"/>
              <p:cNvSpPr/>
              <p:nvPr/>
            </p:nvSpPr>
            <p:spPr>
              <a:xfrm>
                <a:off x="2286000" y="4829175"/>
                <a:ext cx="7429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429500" h="9525">
                    <a:moveTo>
                      <a:pt x="0" y="0"/>
                    </a:moveTo>
                    <a:lnTo>
                      <a:pt x="7429500" y="0"/>
                    </a:lnTo>
                  </a:path>
                </a:pathLst>
              </a:custGeom>
              <a:noFill/>
              <a:ln w="19050">
                <a:solidFill>
                  <a:srgbClr val="5F6368"/>
                </a:solidFill>
              </a:ln>
            </p:spPr>
          </p:sp>
          <p:sp>
            <p:nvSpPr>
              <p:cNvPr id="7" name="Line 7"/>
              <p:cNvSpPr/>
              <p:nvPr/>
            </p:nvSpPr>
            <p:spPr>
              <a:xfrm>
                <a:off x="2286000" y="2266950"/>
                <a:ext cx="7429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429500" h="9525">
                    <a:moveTo>
                      <a:pt x="0" y="0"/>
                    </a:moveTo>
                    <a:lnTo>
                      <a:pt x="7429500" y="0"/>
                    </a:lnTo>
                  </a:path>
                </a:pathLst>
              </a:custGeom>
              <a:noFill/>
              <a:ln w="19050">
                <a:solidFill>
                  <a:schemeClr val="accent6"/>
                </a:solidFill>
              </a:ln>
            </p:spPr>
          </p:sp>
          <p:sp>
            <p:nvSpPr>
              <p:cNvPr id="8" name="Line 8"/>
              <p:cNvSpPr/>
              <p:nvPr/>
            </p:nvSpPr>
            <p:spPr>
              <a:xfrm>
                <a:off x="2286000" y="3124200"/>
                <a:ext cx="7429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429500" h="9525">
                    <a:moveTo>
                      <a:pt x="0" y="0"/>
                    </a:moveTo>
                    <a:lnTo>
                      <a:pt x="7429500" y="0"/>
                    </a:lnTo>
                  </a:path>
                </a:pathLst>
              </a:custGeom>
              <a:noFill/>
              <a:ln w="19050">
                <a:solidFill>
                  <a:schemeClr val="accent6"/>
                </a:solidFill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2286000" y="3971925"/>
                <a:ext cx="7429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429500" h="9525">
                    <a:moveTo>
                      <a:pt x="0" y="0"/>
                    </a:moveTo>
                    <a:lnTo>
                      <a:pt x="7429500" y="0"/>
                    </a:lnTo>
                  </a:path>
                </a:pathLst>
              </a:custGeom>
              <a:noFill/>
              <a:ln w="19050">
                <a:solidFill>
                  <a:schemeClr val="accent6"/>
                </a:solidFill>
              </a:ln>
            </p:spPr>
          </p:sp>
          <p:sp>
            <p:nvSpPr>
              <p:cNvPr id="10" name="Line 10"/>
              <p:cNvSpPr/>
              <p:nvPr/>
            </p:nvSpPr>
            <p:spPr>
              <a:xfrm>
                <a:off x="2286000" y="4829175"/>
                <a:ext cx="7429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429500" h="9525">
                    <a:moveTo>
                      <a:pt x="0" y="0"/>
                    </a:moveTo>
                    <a:lnTo>
                      <a:pt x="7429500" y="0"/>
                    </a:lnTo>
                  </a:path>
                </a:pathLst>
              </a:custGeom>
              <a:noFill/>
              <a:ln w="19050">
                <a:solidFill>
                  <a:schemeClr val="accent6"/>
                </a:solidFill>
              </a:ln>
            </p:spPr>
          </p:sp>
          <p:sp>
            <p:nvSpPr>
              <p:cNvPr id="11" name="Polyline 11"/>
              <p:cNvSpPr/>
              <p:nvPr/>
            </p:nvSpPr>
            <p:spPr>
              <a:xfrm>
                <a:off x="2286000" y="2276475"/>
                <a:ext cx="742950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7429500" h="571500">
                    <a:moveTo>
                      <a:pt x="0" y="561975"/>
                    </a:moveTo>
                    <a:lnTo>
                      <a:pt x="828675" y="533400"/>
                    </a:lnTo>
                    <a:lnTo>
                      <a:pt x="3305175" y="571500"/>
                    </a:lnTo>
                    <a:lnTo>
                      <a:pt x="4953000" y="504825"/>
                    </a:lnTo>
                    <a:lnTo>
                      <a:pt x="7429500" y="0"/>
                    </a:lnTo>
                  </a:path>
                </a:pathLst>
              </a:custGeom>
              <a:noFill/>
              <a:ln w="47625">
                <a:solidFill>
                  <a:schemeClr val="accent1"/>
                </a:solidFill>
              </a:ln>
            </p:spPr>
          </p:sp>
          <p:sp>
            <p:nvSpPr>
              <p:cNvPr id="12" name="Ellipse 12"/>
              <p:cNvSpPr/>
              <p:nvPr/>
            </p:nvSpPr>
            <p:spPr>
              <a:xfrm>
                <a:off x="2219325" y="2771775"/>
                <a:ext cx="133350" cy="1333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3" name="Ellipse 13"/>
              <p:cNvSpPr/>
              <p:nvPr/>
            </p:nvSpPr>
            <p:spPr>
              <a:xfrm>
                <a:off x="3048000" y="2743200"/>
                <a:ext cx="133350" cy="1333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4" name="Ellipse 14"/>
              <p:cNvSpPr/>
              <p:nvPr/>
            </p:nvSpPr>
            <p:spPr>
              <a:xfrm>
                <a:off x="5524500" y="2781300"/>
                <a:ext cx="133350" cy="1333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7172325" y="2714625"/>
                <a:ext cx="133350" cy="1333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6" name="Ellipse 16"/>
              <p:cNvSpPr/>
              <p:nvPr/>
            </p:nvSpPr>
            <p:spPr>
              <a:xfrm>
                <a:off x="9648825" y="2209800"/>
                <a:ext cx="133350" cy="1333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7" name="Polyline 17"/>
              <p:cNvSpPr/>
              <p:nvPr/>
            </p:nvSpPr>
            <p:spPr>
              <a:xfrm>
                <a:off x="2286000" y="3905250"/>
                <a:ext cx="7429500" cy="752475"/>
              </a:xfrm>
              <a:custGeom>
                <a:avLst/>
                <a:gdLst/>
                <a:ahLst/>
                <a:cxnLst/>
                <a:rect l="l" t="t" r="r" b="b"/>
                <a:pathLst>
                  <a:path w="7429500" h="752475">
                    <a:moveTo>
                      <a:pt x="0" y="0"/>
                    </a:moveTo>
                    <a:lnTo>
                      <a:pt x="828675" y="142875"/>
                    </a:lnTo>
                    <a:lnTo>
                      <a:pt x="3305175" y="161925"/>
                    </a:lnTo>
                    <a:lnTo>
                      <a:pt x="4953000" y="361950"/>
                    </a:lnTo>
                    <a:lnTo>
                      <a:pt x="7429500" y="752475"/>
                    </a:lnTo>
                  </a:path>
                </a:pathLst>
              </a:custGeom>
              <a:noFill/>
              <a:ln w="47625">
                <a:solidFill>
                  <a:schemeClr val="accent2"/>
                </a:solidFill>
              </a:ln>
            </p:spPr>
          </p:sp>
          <p:sp>
            <p:nvSpPr>
              <p:cNvPr id="18" name="Ellipse 18"/>
              <p:cNvSpPr/>
              <p:nvPr/>
            </p:nvSpPr>
            <p:spPr>
              <a:xfrm>
                <a:off x="2219325" y="3838575"/>
                <a:ext cx="133350" cy="1333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9" name="Ellipse 19"/>
              <p:cNvSpPr/>
              <p:nvPr/>
            </p:nvSpPr>
            <p:spPr>
              <a:xfrm>
                <a:off x="3048000" y="3981450"/>
                <a:ext cx="133350" cy="1333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0" name="Ellipse 20"/>
              <p:cNvSpPr/>
              <p:nvPr/>
            </p:nvSpPr>
            <p:spPr>
              <a:xfrm>
                <a:off x="5524500" y="4000500"/>
                <a:ext cx="133350" cy="1333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7172325" y="4200525"/>
                <a:ext cx="133350" cy="1333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2" name="Ellipse 22"/>
              <p:cNvSpPr/>
              <p:nvPr/>
            </p:nvSpPr>
            <p:spPr>
              <a:xfrm>
                <a:off x="9648825" y="4591050"/>
                <a:ext cx="133350" cy="1333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743685" y="4701540"/>
                <a:ext cx="41810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-75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743685" y="3844290"/>
                <a:ext cx="41810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-50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743685" y="2996565"/>
                <a:ext cx="41810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-25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2010232" y="2139315"/>
                <a:ext cx="15156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0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2010308" y="4949190"/>
                <a:ext cx="55138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0.05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3658133" y="4949190"/>
                <a:ext cx="55138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0.25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5315483" y="4949190"/>
                <a:ext cx="55138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0.45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963308" y="4949190"/>
                <a:ext cx="55138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0.65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8611133" y="4949190"/>
                <a:ext cx="55138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0.85</a:t>
                </a:r>
              </a:p>
            </p:txBody>
          </p:sp>
          <p:sp>
            <p:nvSpPr>
              <p:cNvPr id="32" name="Line 32"/>
              <p:cNvSpPr/>
              <p:nvPr/>
            </p:nvSpPr>
            <p:spPr>
              <a:xfrm>
                <a:off x="3657600" y="5476875"/>
                <a:ext cx="438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38150" h="9525">
                    <a:moveTo>
                      <a:pt x="0" y="0"/>
                    </a:moveTo>
                    <a:lnTo>
                      <a:pt x="438150" y="0"/>
                    </a:lnTo>
                  </a:path>
                </a:pathLst>
              </a:custGeom>
              <a:noFill/>
              <a:ln w="47625">
                <a:solidFill>
                  <a:schemeClr val="accent1"/>
                </a:solidFill>
              </a:ln>
            </p:spPr>
          </p:sp>
          <p:sp>
            <p:nvSpPr>
              <p:cNvPr id="33" name="Ellipse 33"/>
              <p:cNvSpPr/>
              <p:nvPr/>
            </p:nvSpPr>
            <p:spPr>
              <a:xfrm>
                <a:off x="3819525" y="5419725"/>
                <a:ext cx="114300" cy="114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4200906" y="5358765"/>
                <a:ext cx="156911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 = 4.04e-4 s</a:t>
                </a:r>
              </a:p>
            </p:txBody>
          </p:sp>
          <p:sp>
            <p:nvSpPr>
              <p:cNvPr id="35" name="Line 35"/>
              <p:cNvSpPr/>
              <p:nvPr/>
            </p:nvSpPr>
            <p:spPr>
              <a:xfrm>
                <a:off x="6724650" y="5476875"/>
                <a:ext cx="438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38150" h="9525">
                    <a:moveTo>
                      <a:pt x="0" y="0"/>
                    </a:moveTo>
                    <a:lnTo>
                      <a:pt x="438150" y="0"/>
                    </a:lnTo>
                  </a:path>
                </a:pathLst>
              </a:custGeom>
              <a:noFill/>
              <a:ln w="47625">
                <a:solidFill>
                  <a:schemeClr val="accent2"/>
                </a:solidFill>
              </a:ln>
            </p:spPr>
          </p:sp>
          <p:sp>
            <p:nvSpPr>
              <p:cNvPr id="36" name="Ellipse 36"/>
              <p:cNvSpPr/>
              <p:nvPr/>
            </p:nvSpPr>
            <p:spPr>
              <a:xfrm>
                <a:off x="6886575" y="5419725"/>
                <a:ext cx="114300" cy="114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7267956" y="5358765"/>
                <a:ext cx="156911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 = 1.80e-3 s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0087356" y="4949190"/>
                <a:ext cx="70888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x 位置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81456" y="1615440"/>
                <a:ext cx="155916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SX (10^6 Pa)</a:t>
                </a:r>
              </a:p>
            </p:txBody>
          </p:sp>
        </p:grpSp>
      </p:grpSp>
      <p:grpSp>
        <p:nvGrpSpPr>
          <p:cNvPr id="43" name="Group 43"/>
          <p:cNvGrpSpPr/>
          <p:nvPr/>
        </p:nvGrpSpPr>
        <p:grpSpPr>
          <a:xfrm>
            <a:off x="886206" y="6263640"/>
            <a:ext cx="9966160" cy="352044"/>
            <a:chOff x="886206" y="6263640"/>
            <a:chExt cx="9966160" cy="352044"/>
          </a:xfrm>
        </p:grpSpPr>
        <p:sp>
          <p:nvSpPr>
            <p:cNvPr id="42" name="TextBox 42"/>
            <p:cNvSpPr txBox="1"/>
            <p:nvPr/>
          </p:nvSpPr>
          <p:spPr>
            <a:xfrm>
              <a:off x="886206" y="6263640"/>
              <a:ext cx="99661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t=1.02e-3 s：x=0.05/0.15/0.45/0.65 的 SX 为 -2.46/-2.83/-3.59/-3.22 ×10⁷ Pa。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66750" y="365760"/>
            <a:ext cx="5692140" cy="819150"/>
            <a:chOff x="666750" y="365760"/>
            <a:chExt cx="5692140" cy="819150"/>
          </a:xfrm>
        </p:grpSpPr>
        <p:sp>
          <p:nvSpPr>
            <p:cNvPr id="2" name="TextBox 2"/>
            <p:cNvSpPr txBox="1"/>
            <p:nvPr/>
          </p:nvSpPr>
          <p:spPr>
            <a:xfrm>
              <a:off x="666750" y="365760"/>
              <a:ext cx="569214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当前能力与未验证事项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723900" y="952500"/>
              <a:ext cx="4933950" cy="104775"/>
            </a:xfrm>
            <a:custGeom>
              <a:avLst/>
              <a:gdLst/>
              <a:ahLst/>
              <a:cxnLst/>
              <a:rect l="l" t="t" r="r" b="b"/>
              <a:pathLst>
                <a:path w="4933950" h="104775">
                  <a:moveTo>
                    <a:pt x="0" y="57150"/>
                  </a:moveTo>
                  <a:cubicBezTo>
                    <a:pt x="1752600" y="0"/>
                    <a:pt x="3276600" y="104775"/>
                    <a:pt x="4933950" y="38100"/>
                  </a:cubicBezTo>
                </a:path>
              </a:pathLst>
            </a:custGeom>
            <a:noFill/>
            <a:ln w="38100" cap="rnd">
              <a:solidFill>
                <a:schemeClr val="accent3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826008" y="1798320"/>
            <a:ext cx="4584192" cy="3026664"/>
            <a:chOff x="826008" y="1798320"/>
            <a:chExt cx="4584192" cy="3026664"/>
          </a:xfrm>
        </p:grpSpPr>
        <p:sp>
          <p:nvSpPr>
            <p:cNvPr id="5" name="TextBox 5"/>
            <p:cNvSpPr txBox="1"/>
            <p:nvPr/>
          </p:nvSpPr>
          <p:spPr>
            <a:xfrm>
              <a:off x="826008" y="1798320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已建立的工程闭环</a:t>
              </a:r>
            </a:p>
          </p:txBody>
        </p:sp>
        <p:sp>
          <p:nvSpPr>
            <p:cNvPr id="6" name="Freeform 6"/>
            <p:cNvSpPr/>
            <p:nvPr/>
          </p:nvSpPr>
          <p:spPr>
            <a:xfrm>
              <a:off x="857250" y="2228850"/>
              <a:ext cx="4552950" cy="123825"/>
            </a:xfrm>
            <a:custGeom>
              <a:avLst/>
              <a:gdLst/>
              <a:ahLst/>
              <a:cxnLst/>
              <a:rect l="l" t="t" r="r" b="b"/>
              <a:pathLst>
                <a:path w="4552950" h="123825">
                  <a:moveTo>
                    <a:pt x="0" y="57150"/>
                  </a:moveTo>
                  <a:cubicBezTo>
                    <a:pt x="1219200" y="0"/>
                    <a:pt x="2781300" y="123825"/>
                    <a:pt x="4552950" y="47625"/>
                  </a:cubicBezTo>
                </a:path>
              </a:pathLst>
            </a:custGeom>
            <a:noFill/>
            <a:ln w="38100" cap="rnd">
              <a:solidFill>
                <a:schemeClr val="accent2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48106" y="2606040"/>
              <a:ext cx="33547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本机 Starter / Engine 可运行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48106" y="302514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动态用户库接入与材料点测试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48106" y="3444240"/>
              <a:ext cx="30778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单砖求解、T01 与动画输出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8106" y="3863340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多单元模型应力分布可查看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8106" y="447294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证明接口与数值流程可用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464808" y="1798320"/>
            <a:ext cx="4565142" cy="3026664"/>
            <a:chOff x="6464808" y="1798320"/>
            <a:chExt cx="4565142" cy="3026664"/>
          </a:xfrm>
        </p:grpSpPr>
        <p:sp>
          <p:nvSpPr>
            <p:cNvPr id="13" name="TextBox 13"/>
            <p:cNvSpPr txBox="1"/>
            <p:nvPr/>
          </p:nvSpPr>
          <p:spPr>
            <a:xfrm>
              <a:off x="6464808" y="1798320"/>
              <a:ext cx="29321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A16A00"/>
                  </a:solidFill>
                  <a:latin typeface="+mn-lt"/>
                  <a:ea typeface="+mn-ea"/>
                  <a:cs typeface="+mn-cs"/>
                </a:rPr>
                <a:t>仍需补充的科学证据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6496050" y="2228850"/>
              <a:ext cx="4533900" cy="123825"/>
            </a:xfrm>
            <a:custGeom>
              <a:avLst/>
              <a:gdLst/>
              <a:ahLst/>
              <a:cxnLst/>
              <a:rect l="l" t="t" r="r" b="b"/>
              <a:pathLst>
                <a:path w="4533900" h="123825">
                  <a:moveTo>
                    <a:pt x="0" y="57150"/>
                  </a:moveTo>
                  <a:cubicBezTo>
                    <a:pt x="1314450" y="0"/>
                    <a:pt x="2914650" y="123825"/>
                    <a:pt x="4533900" y="47625"/>
                  </a:cubicBezTo>
                </a:path>
              </a:pathLst>
            </a:custGeom>
            <a:noFill/>
            <a:ln w="38100" cap="rnd">
              <a:solidFill>
                <a:schemeClr val="accent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486906" y="260604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示例参数尚未用实验标定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86906" y="302514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损伤模型无网格正则化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86906" y="344424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尚无复杂冲击基准验证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86906" y="386334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不是完整有限应变框架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86906" y="447294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不能据此声称材料可预测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76300" y="5619750"/>
            <a:ext cx="10287000" cy="552450"/>
            <a:chOff x="876300" y="5619750"/>
            <a:chExt cx="10287000" cy="552450"/>
          </a:xfrm>
        </p:grpSpPr>
        <p:sp>
          <p:nvSpPr>
            <p:cNvPr id="21" name="Rectangle 21"/>
            <p:cNvSpPr/>
            <p:nvPr/>
          </p:nvSpPr>
          <p:spPr>
            <a:xfrm>
              <a:off x="876300" y="5619750"/>
              <a:ext cx="10287000" cy="552450"/>
            </a:xfrm>
            <a:prstGeom prst="roundRect">
              <a:avLst>
                <a:gd name="adj" fmla="val 13793"/>
              </a:avLst>
            </a:prstGeom>
            <a:solidFill>
              <a:srgbClr val="FFF1C9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95756" y="5787390"/>
              <a:ext cx="65608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当前结果验证软件和数值闭环，真实材料能力仍待证据支持。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66750" y="365760"/>
            <a:ext cx="4991100" cy="819150"/>
            <a:chOff x="666750" y="365760"/>
            <a:chExt cx="4991100" cy="819150"/>
          </a:xfrm>
        </p:grpSpPr>
        <p:sp>
          <p:nvSpPr>
            <p:cNvPr id="2" name="TextBox 2"/>
            <p:cNvSpPr txBox="1"/>
            <p:nvPr/>
          </p:nvSpPr>
          <p:spPr>
            <a:xfrm>
              <a:off x="666750" y="365760"/>
              <a:ext cx="456133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下一阶段工作安排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723900" y="952500"/>
              <a:ext cx="4933950" cy="104775"/>
            </a:xfrm>
            <a:custGeom>
              <a:avLst/>
              <a:gdLst/>
              <a:ahLst/>
              <a:cxnLst/>
              <a:rect l="l" t="t" r="r" b="b"/>
              <a:pathLst>
                <a:path w="4933950" h="104775">
                  <a:moveTo>
                    <a:pt x="0" y="57150"/>
                  </a:moveTo>
                  <a:cubicBezTo>
                    <a:pt x="1752600" y="0"/>
                    <a:pt x="3276600" y="104775"/>
                    <a:pt x="4933950" y="38100"/>
                  </a:cubicBezTo>
                </a:path>
              </a:pathLst>
            </a:custGeom>
            <a:noFill/>
            <a:ln w="38100" cap="rnd">
              <a:solidFill>
                <a:schemeClr val="accent1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838200" y="1724025"/>
            <a:ext cx="9906000" cy="1047750"/>
            <a:chOff x="838200" y="1724025"/>
            <a:chExt cx="9906000" cy="1047750"/>
          </a:xfrm>
        </p:grpSpPr>
        <p:sp>
          <p:nvSpPr>
            <p:cNvPr id="5" name="Ellipse 5"/>
            <p:cNvSpPr/>
            <p:nvPr/>
          </p:nvSpPr>
          <p:spPr>
            <a:xfrm>
              <a:off x="838200" y="1724025"/>
              <a:ext cx="457200" cy="457200"/>
            </a:xfrm>
            <a:prstGeom prst="ellipse">
              <a:avLst/>
            </a:prstGeom>
            <a:solidFill>
              <a:srgbClr val="DCE9FC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87687" y="184404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492758" y="1750695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实验参数标定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495806" y="2282190"/>
              <a:ext cx="59710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静态压缩 / 拉伸 / 三轴与 SHPB 数据 → 确认模型参数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1524000" y="2638425"/>
              <a:ext cx="9220200" cy="133350"/>
            </a:xfrm>
            <a:custGeom>
              <a:avLst/>
              <a:gdLst/>
              <a:ahLst/>
              <a:cxnLst/>
              <a:rect l="l" t="t" r="r" b="b"/>
              <a:pathLst>
                <a:path w="9220200" h="133350">
                  <a:moveTo>
                    <a:pt x="0" y="66675"/>
                  </a:moveTo>
                  <a:cubicBezTo>
                    <a:pt x="2305050" y="0"/>
                    <a:pt x="5086350" y="133350"/>
                    <a:pt x="9220200" y="47625"/>
                  </a:cubicBezTo>
                </a:path>
              </a:pathLst>
            </a:custGeom>
            <a:noFill/>
            <a:ln w="38100" cap="rnd">
              <a:solidFill>
                <a:schemeClr val="accent1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838200" y="3228975"/>
            <a:ext cx="6733794" cy="910209"/>
            <a:chOff x="838200" y="3228975"/>
            <a:chExt cx="6733794" cy="910209"/>
          </a:xfrm>
        </p:grpSpPr>
        <p:sp>
          <p:nvSpPr>
            <p:cNvPr id="11" name="Ellipse 11"/>
            <p:cNvSpPr/>
            <p:nvPr/>
          </p:nvSpPr>
          <p:spPr>
            <a:xfrm>
              <a:off x="838200" y="3228975"/>
              <a:ext cx="457200" cy="457200"/>
            </a:xfrm>
            <a:prstGeom prst="ellipse">
              <a:avLst/>
            </a:prstGeom>
            <a:solidFill>
              <a:srgbClr val="DDF2E4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87687" y="334899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92758" y="3265170"/>
              <a:ext cx="357835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损伤正则化与网格客观性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95806" y="3787140"/>
              <a:ext cx="60761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引入特征长度或断裂能，再用多网格结果检查软化响应。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38200" y="4619625"/>
            <a:ext cx="8472068" cy="872109"/>
            <a:chOff x="838200" y="4619625"/>
            <a:chExt cx="8472068" cy="872109"/>
          </a:xfrm>
        </p:grpSpPr>
        <p:sp>
          <p:nvSpPr>
            <p:cNvPr id="16" name="Ellipse 16"/>
            <p:cNvSpPr/>
            <p:nvPr/>
          </p:nvSpPr>
          <p:spPr>
            <a:xfrm>
              <a:off x="838200" y="4619625"/>
              <a:ext cx="457200" cy="457200"/>
            </a:xfrm>
            <a:prstGeom prst="ellipse">
              <a:avLst/>
            </a:prstGeom>
            <a:solidFill>
              <a:srgbClr val="FFF1C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87687" y="473964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A16A00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92758" y="4655820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按研究需求扩展与维护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95806" y="5139690"/>
              <a:ext cx="78144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评估有限应变、H3D UVAR 查看条件，补充构建门并提交工作区改动。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14400" y="5800725"/>
            <a:ext cx="7200900" cy="643509"/>
            <a:chOff x="914400" y="5800725"/>
            <a:chExt cx="7200900" cy="643509"/>
          </a:xfrm>
        </p:grpSpPr>
        <p:sp>
          <p:nvSpPr>
            <p:cNvPr id="21" name="Freeform 21"/>
            <p:cNvSpPr/>
            <p:nvPr/>
          </p:nvSpPr>
          <p:spPr>
            <a:xfrm>
              <a:off x="914400" y="5800725"/>
              <a:ext cx="7200900" cy="123825"/>
            </a:xfrm>
            <a:custGeom>
              <a:avLst/>
              <a:gdLst/>
              <a:ahLst/>
              <a:cxnLst/>
              <a:rect l="l" t="t" r="r" b="b"/>
              <a:pathLst>
                <a:path w="7200900" h="123825">
                  <a:moveTo>
                    <a:pt x="0" y="66675"/>
                  </a:moveTo>
                  <a:cubicBezTo>
                    <a:pt x="2171700" y="0"/>
                    <a:pt x="4819650" y="123825"/>
                    <a:pt x="7200900" y="47625"/>
                  </a:cubicBezTo>
                </a:path>
              </a:pathLst>
            </a:custGeom>
            <a:noFill/>
            <a:ln w="47625" cap="rnd">
              <a:solidFill>
                <a:schemeClr val="accent3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24306" y="6092190"/>
              <a:ext cx="58338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数值闭环已建立；下一步验证模型是否代表真实材料。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penRadioss_Group_Meeting">
  <a:themeElements>
    <a:clrScheme name="OpenRadioss_Group_Meeting">
      <a:dk1>
        <a:srgbClr val="202124"/>
      </a:dk1>
      <a:lt1>
        <a:srgbClr val="FFFFFF"/>
      </a:lt1>
      <a:dk2>
        <a:srgbClr val="1F497D"/>
      </a:dk2>
      <a:lt2>
        <a:srgbClr val="F8F9FA"/>
      </a:lt2>
      <a:accent1>
        <a:srgbClr val="4285F4"/>
      </a:accent1>
      <a:accent2>
        <a:srgbClr val="34A853"/>
      </a:accent2>
      <a:accent3>
        <a:srgbClr val="FBBC05"/>
      </a:accent3>
      <a:accent4>
        <a:srgbClr val="4285F4"/>
      </a:accent4>
      <a:accent5>
        <a:srgbClr val="5F6368"/>
      </a:accent5>
      <a:accent6>
        <a:srgbClr val="DADCE0"/>
      </a:accent6>
      <a:hlink>
        <a:srgbClr val="34A853"/>
      </a:hlink>
      <a:folHlink>
        <a:srgbClr val="FBBC05"/>
      </a:folHlink>
    </a:clrScheme>
    <a:fontScheme name="OpenRadioss_Group_Meeting">
      <a:maj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penRadioss_Group_Meetin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penRadioss_Group_Meeting">
  <a:themeElements>
    <a:clrScheme name="OpenRadioss_Group_Meeting">
      <a:dk1>
        <a:srgbClr val="202124"/>
      </a:dk1>
      <a:lt1>
        <a:srgbClr val="FFFFFF"/>
      </a:lt1>
      <a:dk2>
        <a:srgbClr val="1F497D"/>
      </a:dk2>
      <a:lt2>
        <a:srgbClr val="F8F9FA"/>
      </a:lt2>
      <a:accent1>
        <a:srgbClr val="4285F4"/>
      </a:accent1>
      <a:accent2>
        <a:srgbClr val="34A853"/>
      </a:accent2>
      <a:accent3>
        <a:srgbClr val="FBBC05"/>
      </a:accent3>
      <a:accent4>
        <a:srgbClr val="4285F4"/>
      </a:accent4>
      <a:accent5>
        <a:srgbClr val="5F6368"/>
      </a:accent5>
      <a:accent6>
        <a:srgbClr val="DADCE0"/>
      </a:accent6>
      <a:hlink>
        <a:srgbClr val="34A853"/>
      </a:hlink>
      <a:folHlink>
        <a:srgbClr val="FBBC05"/>
      </a:folHlink>
    </a:clrScheme>
    <a:fontScheme name="OpenRadioss_Group_Meeting">
      <a:maj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penRadioss_Group_Meetin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2026-10-08T09:05:52Z</dcterms:created>
  <dcterms:modified xsi:type="dcterms:W3CDTF">2026-10-08T09:05:52Z</dcterms:modified>
  <cp:category/>
  <cp:contentStatus/>
</cp:coreProperties>
</file>