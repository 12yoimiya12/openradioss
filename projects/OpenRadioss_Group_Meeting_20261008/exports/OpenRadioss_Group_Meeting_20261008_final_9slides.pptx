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5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今天汇报 2026 年 9 月 8 日到 10 月 8 日的工作。主线是从源码可以编译，推进到 KF 用户本构可以接入、完成数值验证并产生可后处理结果。需要先说明结论边界：目前建立的是软件接口和数值流程闭环，材料预测能力仍需要实验标定和模型完善。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本月工作分为三个阶段。第一阶段在没有 Visual Studio 的本机上，使用 MinGW gfortran 构建 Starter 和 Engine，并做冒烟与输入兼容检查。第二阶段运行鸟撞风挡和气囊展开两个工程算例，其中鸟撞自然终止并输出 101 帧，气囊此次只生成 61 帧，运行在 A042 处被手工中断。第三阶段完成 KF LAW99 的本机适配、材料点与求解验证，以及动画和结果文件的后处理链路。接下来重点讲第三阶段，同时保留前两阶段的运行状态区别。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本机没有 Visual Studio，因此使用仓库提供的 MinGW gfortran 工具链。构建过程中修正了 CMake 条件比较的变量引用方式，使其兼容新版 CMake 解析。最终生成 Engine 和 Starter 两个可执行文件，大小分别为 36.4 MB 和 23.5 MB。通过 TWISBEAM 冒烟测试和 LS-DYNA 的 .k 输入检查确认基本运行链路可用，并配置了 VS Code 调试启动。文件名中的 gf 标识 gfortran 构建版本，构建时间为 9 月 15 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鸟撞风挡算例使用官方 Example 49，Starter 报告零错误，Engine 正常终止，共运行 16,634 个循环，耗时 3,042 秒，内存约 266 MB，并输出 101 帧动画。气囊展开算例读取 LS-DYNA 格式输入卡，产生了 61 帧动画，但这次运行并未自然结束；日志写到 A042 时由人工按下 CTRL-C 中断。两者分别证明了实际工程输入的处理能力和当前运行产物，不能把气囊结果描述为完整求解。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KF 模型通过动态用户库接入，材料卡使用 /MAT/USER02，求解器内部映射到 ILAW 等于 99，再调用用户本构。模型包含 25 个参数和 8 个状态变量。本次迁移是从 MSVC 与 Visual Studio 2022 开发环境转到本机 MinGW gfortran。检查求解器后确认已有动态用户库支持，DLL 文件名保持一致，用户库源码为纯 C，因此不需要重新编译求解器，也没有改动项目源码或测试卡。这样把适配范围收敛在本机编译和运行环境。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本机脚本把用户库构建、八项材料点验证、Starter 与 Engine 求解，以及结果转换连成一个自动流程。它覆盖单砖和多单元模型，并将动画和 T01 数据输出到可检查的位置。实现中有两处环境约束值得记住：编译使用 Ninja，以避开含中文路径时 mingw32-make 的编码问题；Python ctypes 加载用户库时，libgcc_s_seh-1.dll 需要与用户库 DLL 放在同一目录。脚本会预先检查工具链和转换器，任一编译或验证步骤失败就停止，避免留下看似成功的不完整结果。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OpenRadioss 的 Python/Tk 图形界面可以选择 .rad、.k 或 .inp 算例，设置线程数和 MPI 进程，提交任务并管理运行队列，也提供动画转 VTK、时程转 CSV 等结果转换选项。求解完成后，当前 HyperWorks 14 可通过 RADIOSS A 文件读取器查看动画结果。多单元轴压模型已输出应力张量、Von Mises 等结果，可在 HyperView 中分析 SX、SY、SZ 等分量并查看空间应力梯度和应力云图。H3D writer 输出 v24，当前 HW14 无法读取；较新版本才可查看 KF 的损伤、孔隙率和压力等内部变量。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下一阶段将把重点转到 Visual Studio 2022 环境下的 OpenRadioss 适配。首先核对 VS2022、CMake 以及项目所需编译器和依赖的配置，再构建 Starter 与 Engine 并检查运行状态。随后在该环境重建 LAW99 动态用户库，重跑八项材料点矩阵、单砖求解和多单元算例，并与当前 MinGW 版本的运行状态及关键数值对照。最后整理平台差异和可复现的构建步骤，形成后续迁移与维护依据。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penRadioss_Group_Meet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penRadioss_Group_Meet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819150" y="2194560"/>
            <a:ext cx="8386523" cy="819150"/>
            <a:chOff x="819150" y="2194560"/>
            <a:chExt cx="8386523" cy="819150"/>
          </a:xfrm>
        </p:grpSpPr>
        <p:sp>
          <p:nvSpPr>
            <p:cNvPr id="3" name="TextBox 3"/>
            <p:cNvSpPr txBox="1"/>
            <p:nvPr/>
          </p:nvSpPr>
          <p:spPr>
            <a:xfrm>
              <a:off x="819150" y="2194560"/>
              <a:ext cx="838652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OpenRadioss 本机二次开发进展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876300" y="2809875"/>
              <a:ext cx="7772400" cy="190500"/>
            </a:xfrm>
            <a:custGeom>
              <a:avLst/>
              <a:gdLst/>
              <a:ahLst/>
              <a:cxnLst/>
              <a:rect l="l" t="t" r="r" b="b"/>
              <a:pathLst>
                <a:path w="7772400" h="190500">
                  <a:moveTo>
                    <a:pt x="0" y="95250"/>
                  </a:moveTo>
                  <a:cubicBezTo>
                    <a:pt x="1600200" y="0"/>
                    <a:pt x="3124200" y="190500"/>
                    <a:pt x="4743450" y="85725"/>
                  </a:cubicBezTo>
                  <a:cubicBezTo>
                    <a:pt x="5886450" y="19050"/>
                    <a:pt x="6838950" y="133350"/>
                    <a:pt x="7772400" y="57150"/>
                  </a:cubicBezTo>
                </a:path>
              </a:pathLst>
            </a:custGeom>
            <a:noFill/>
            <a:ln w="66675" cap="rnd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83158" y="3360420"/>
            <a:ext cx="7132320" cy="912114"/>
            <a:chOff x="883158" y="3360420"/>
            <a:chExt cx="7132320" cy="912114"/>
          </a:xfrm>
        </p:grpSpPr>
        <p:sp>
          <p:nvSpPr>
            <p:cNvPr id="6" name="TextBox 6"/>
            <p:cNvSpPr txBox="1"/>
            <p:nvPr/>
          </p:nvSpPr>
          <p:spPr>
            <a:xfrm>
              <a:off x="883158" y="3360420"/>
              <a:ext cx="7132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从源码能编译，推进到用户本构可运行并可后处理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5256" y="3920490"/>
              <a:ext cx="56642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统计区间 2026-09-08 至 2026-10-08　·　9 次提交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9650" y="5172075"/>
            <a:ext cx="10086975" cy="367284"/>
            <a:chOff x="1009650" y="5172075"/>
            <a:chExt cx="10086975" cy="367284"/>
          </a:xfrm>
        </p:grpSpPr>
        <p:sp>
          <p:nvSpPr>
            <p:cNvPr id="9" name="Freeform 9"/>
            <p:cNvSpPr/>
            <p:nvPr/>
          </p:nvSpPr>
          <p:spPr>
            <a:xfrm>
              <a:off x="1009650" y="5238750"/>
              <a:ext cx="10086975" cy="123825"/>
            </a:xfrm>
            <a:custGeom>
              <a:avLst/>
              <a:gdLst/>
              <a:ahLst/>
              <a:cxnLst/>
              <a:rect l="l" t="t" r="r" b="b"/>
              <a:pathLst>
                <a:path w="10086975" h="123825">
                  <a:moveTo>
                    <a:pt x="0" y="57150"/>
                  </a:moveTo>
                  <a:cubicBezTo>
                    <a:pt x="2133600" y="0"/>
                    <a:pt x="3848100" y="123825"/>
                    <a:pt x="5991225" y="57150"/>
                  </a:cubicBezTo>
                  <a:cubicBezTo>
                    <a:pt x="7562850" y="9525"/>
                    <a:pt x="8801100" y="95250"/>
                    <a:pt x="10086975" y="38100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Ellipse 10"/>
            <p:cNvSpPr/>
            <p:nvPr/>
          </p:nvSpPr>
          <p:spPr>
            <a:xfrm>
              <a:off x="1095375" y="51720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Ellipse 11"/>
            <p:cNvSpPr/>
            <p:nvPr/>
          </p:nvSpPr>
          <p:spPr>
            <a:xfrm>
              <a:off x="5857875" y="51720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Ellipse 12"/>
            <p:cNvSpPr/>
            <p:nvPr/>
          </p:nvSpPr>
          <p:spPr>
            <a:xfrm>
              <a:off x="10448925" y="51720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95806" y="51873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本机构建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58306" y="51873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工程算例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29956" y="5187315"/>
              <a:ext cx="27450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KF LAW99 验证与后处理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88492" y="6255068"/>
            <a:ext cx="26117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计算力学课题组 · OpenRadioss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5692140" cy="819150"/>
            <a:chOff x="666750" y="365760"/>
            <a:chExt cx="569214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5692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本月工作的三阶段进展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9625" y="1714500"/>
            <a:ext cx="2657475" cy="3320034"/>
            <a:chOff x="809625" y="1714500"/>
            <a:chExt cx="2657475" cy="3320034"/>
          </a:xfrm>
        </p:grpSpPr>
        <p:sp>
          <p:nvSpPr>
            <p:cNvPr id="5" name="Ellipse 5"/>
            <p:cNvSpPr/>
            <p:nvPr/>
          </p:nvSpPr>
          <p:spPr>
            <a:xfrm>
              <a:off x="809625" y="1714500"/>
              <a:ext cx="514350" cy="514350"/>
            </a:xfrm>
            <a:prstGeom prst="ellipse">
              <a:avLst/>
            </a:prstGeom>
            <a:solidFill>
              <a:srgbClr val="DCE9F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17719" y="18726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54658" y="18173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本机构建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7156" y="2453640"/>
              <a:ext cx="16296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09-09 — 09-17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876300" y="2838450"/>
              <a:ext cx="2590800" cy="85725"/>
            </a:xfrm>
            <a:custGeom>
              <a:avLst/>
              <a:gdLst/>
              <a:ahLst/>
              <a:cxnLst/>
              <a:rect l="l" t="t" r="r" b="b"/>
              <a:pathLst>
                <a:path w="2590800" h="85725">
                  <a:moveTo>
                    <a:pt x="0" y="38100"/>
                  </a:moveTo>
                  <a:cubicBezTo>
                    <a:pt x="800100" y="0"/>
                    <a:pt x="1600200" y="85725"/>
                    <a:pt x="2590800" y="2857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7156" y="3196590"/>
              <a:ext cx="13192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CMake 排错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7156" y="3596640"/>
              <a:ext cx="25480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Starter / Engine 构建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156" y="39966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冒烟与输入兼容检查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7156" y="46824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双可执行文件可运行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05325" y="1714500"/>
            <a:ext cx="2828925" cy="3320034"/>
            <a:chOff x="4505325" y="1714500"/>
            <a:chExt cx="2828925" cy="3320034"/>
          </a:xfrm>
        </p:grpSpPr>
        <p:sp>
          <p:nvSpPr>
            <p:cNvPr id="15" name="Ellipse 15"/>
            <p:cNvSpPr/>
            <p:nvPr/>
          </p:nvSpPr>
          <p:spPr>
            <a:xfrm>
              <a:off x="4505325" y="1714500"/>
              <a:ext cx="514350" cy="514350"/>
            </a:xfrm>
            <a:prstGeom prst="ellipse">
              <a:avLst/>
            </a:prstGeom>
            <a:solidFill>
              <a:srgbClr val="DDF2E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13419" y="18726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50358" y="18173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工程算例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2856" y="2453640"/>
              <a:ext cx="16296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09-22 — 09-25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4572000" y="2819400"/>
              <a:ext cx="2762250" cy="123825"/>
            </a:xfrm>
            <a:custGeom>
              <a:avLst/>
              <a:gdLst/>
              <a:ahLst/>
              <a:cxnLst/>
              <a:rect l="l" t="t" r="r" b="b"/>
              <a:pathLst>
                <a:path w="2762250" h="123825">
                  <a:moveTo>
                    <a:pt x="0" y="57150"/>
                  </a:moveTo>
                  <a:cubicBezTo>
                    <a:pt x="895350" y="0"/>
                    <a:pt x="1866900" y="123825"/>
                    <a:pt x="276225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2856" y="3196590"/>
              <a:ext cx="102848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dirty="0">
                  <a:solidFill>
                    <a:schemeClr val="dk1"/>
                  </a:solidFill>
                </a:rPr>
                <a:t>Bird</a:t>
              </a:r>
              <a:r>
                <a:rPr lang="zh-CN" altLang="zh-CN" b="1" dirty="0">
                  <a:solidFill>
                    <a:schemeClr val="dk1"/>
                  </a:solidFill>
                </a:rPr>
                <a:t> </a:t>
              </a:r>
              <a:r>
                <a:rPr lang="zh-CN" altLang="zh-CN" dirty="0">
                  <a:solidFill>
                    <a:schemeClr val="dk1"/>
                  </a:solidFill>
                </a:rPr>
                <a:t>Strike</a:t>
              </a:r>
              <a:endParaRPr lang="zh-CN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2856" y="3596640"/>
              <a:ext cx="204562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Airbag Deployment </a:t>
              </a:r>
              <a:endParaRPr lang="zh-CN" altLang="en-US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62856" y="3996690"/>
              <a:ext cx="1208664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KF </a:t>
              </a:r>
              <a:r>
                <a:rPr lang="zh-CN" alt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alt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J2</a:t>
              </a:r>
              <a:r>
                <a:rPr lang="zh-CN" alt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  <a:p>
              <a:pPr algn="l"/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62856" y="46824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实际问题规模运行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277225" y="1714500"/>
            <a:ext cx="2981325" cy="3320034"/>
            <a:chOff x="8277225" y="1714500"/>
            <a:chExt cx="2981325" cy="3320034"/>
          </a:xfrm>
        </p:grpSpPr>
        <p:sp>
          <p:nvSpPr>
            <p:cNvPr id="25" name="Ellipse 25"/>
            <p:cNvSpPr/>
            <p:nvPr/>
          </p:nvSpPr>
          <p:spPr>
            <a:xfrm>
              <a:off x="8277225" y="1714500"/>
              <a:ext cx="514350" cy="514350"/>
            </a:xfrm>
            <a:prstGeom prst="ellipse">
              <a:avLst/>
            </a:prstGeom>
            <a:solidFill>
              <a:srgbClr val="FFF1C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85319" y="18726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A16A0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22258" y="1817370"/>
              <a:ext cx="181508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chemeClr val="dk1"/>
                  </a:solidFill>
                </a:rPr>
                <a:t>后处理及</a:t>
              </a:r>
              <a:r>
                <a:rPr lang="en-US" altLang="zh-CN" sz="2400" b="1" dirty="0">
                  <a:solidFill>
                    <a:schemeClr val="dk1"/>
                  </a:solidFill>
                </a:rPr>
                <a:t>GUI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34756" y="2453640"/>
              <a:ext cx="16296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09-27 — 09-30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8343900" y="2809875"/>
              <a:ext cx="2914650" cy="133350"/>
            </a:xfrm>
            <a:custGeom>
              <a:avLst/>
              <a:gdLst/>
              <a:ahLst/>
              <a:cxnLst/>
              <a:rect l="l" t="t" r="r" b="b"/>
              <a:pathLst>
                <a:path w="2914650" h="133350">
                  <a:moveTo>
                    <a:pt x="0" y="66675"/>
                  </a:moveTo>
                  <a:cubicBezTo>
                    <a:pt x="895350" y="0"/>
                    <a:pt x="1847850" y="133350"/>
                    <a:pt x="2914650" y="5715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4756" y="3196590"/>
              <a:ext cx="18222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MinGW 本机适配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34756" y="3596640"/>
              <a:ext cx="12189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GUI 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34756" y="3996690"/>
              <a:ext cx="20921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动画 / H3D 后处理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34756" y="46824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16A00"/>
                  </a:solidFill>
                  <a:latin typeface="+mn-lt"/>
                  <a:ea typeface="+mn-ea"/>
                  <a:cs typeface="+mn-cs"/>
                </a:rPr>
                <a:t>数值闭环已建立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752856" y="6044565"/>
            <a:ext cx="82570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重点：已验证软件接口与数值流程；材料预测能力仍待实验标定和模型完善。</a:t>
            </a:r>
          </a:p>
        </p:txBody>
      </p:sp>
      <p:sp>
        <p:nvSpPr>
          <p:cNvPr id="38" name="TextBox 22">
            <a:extLst>
              <a:ext uri="{FF2B5EF4-FFF2-40B4-BE49-F238E27FC236}">
                <a16:creationId xmlns:a16="http://schemas.microsoft.com/office/drawing/2014/main" id="{878A6A88-BA85-D1FA-2E00-6F94AE1DB446}"/>
              </a:ext>
            </a:extLst>
          </p:cNvPr>
          <p:cNvSpPr txBox="1"/>
          <p:nvPr/>
        </p:nvSpPr>
        <p:spPr>
          <a:xfrm>
            <a:off x="4588435" y="4355408"/>
            <a:ext cx="1990930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气囊展开生成 61 帧</a:t>
            </a:r>
            <a:endParaRPr lang="en-US" altLang="zh-CN" sz="18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  <a:p>
            <a:pPr algn="l"/>
            <a:endParaRPr lang="zh-CN" sz="18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7653337" cy="819150"/>
            <a:chOff x="666750" y="365760"/>
            <a:chExt cx="7653337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765333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MinGW gfortran 求解器构建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06958" y="1615440"/>
            <a:ext cx="8732154" cy="861822"/>
            <a:chOff x="806958" y="1615440"/>
            <a:chExt cx="8732154" cy="861822"/>
          </a:xfrm>
        </p:grpSpPr>
        <p:sp>
          <p:nvSpPr>
            <p:cNvPr id="5" name="TextBox 5"/>
            <p:cNvSpPr txBox="1"/>
            <p:nvPr/>
          </p:nvSpPr>
          <p:spPr>
            <a:xfrm>
              <a:off x="810006" y="1615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环境约束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06958" y="2007870"/>
              <a:ext cx="87321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本机没有 Visual Studio，使用仓库 MinGW gfortran 工具链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9056" y="2762250"/>
            <a:ext cx="4085844" cy="1434084"/>
            <a:chOff x="829056" y="2762250"/>
            <a:chExt cx="4085844" cy="1434084"/>
          </a:xfrm>
        </p:grpSpPr>
        <p:sp>
          <p:nvSpPr>
            <p:cNvPr id="8" name="Freeform 8"/>
            <p:cNvSpPr/>
            <p:nvPr/>
          </p:nvSpPr>
          <p:spPr>
            <a:xfrm>
              <a:off x="838200" y="2762250"/>
              <a:ext cx="4076700" cy="133350"/>
            </a:xfrm>
            <a:custGeom>
              <a:avLst/>
              <a:gdLst/>
              <a:ahLst/>
              <a:cxnLst/>
              <a:rect l="l" t="t" r="r" b="b"/>
              <a:pathLst>
                <a:path w="4076700" h="133350">
                  <a:moveTo>
                    <a:pt x="0" y="57150"/>
                  </a:moveTo>
                  <a:cubicBezTo>
                    <a:pt x="1200150" y="0"/>
                    <a:pt x="2400300" y="133350"/>
                    <a:pt x="4076700" y="4762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9056" y="3063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构建排错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9056" y="3501390"/>
              <a:ext cx="28060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CMake 条件比较加引号，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056" y="38442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兼容新版变量解析。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61760" y="2891790"/>
            <a:ext cx="4722266" cy="981075"/>
            <a:chOff x="6461760" y="2891790"/>
            <a:chExt cx="4722266" cy="981075"/>
          </a:xfrm>
        </p:grpSpPr>
        <p:sp>
          <p:nvSpPr>
            <p:cNvPr id="13" name="TextBox 13"/>
            <p:cNvSpPr txBox="1"/>
            <p:nvPr/>
          </p:nvSpPr>
          <p:spPr>
            <a:xfrm>
              <a:off x="6467856" y="2891790"/>
              <a:ext cx="764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Engine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1760" y="3286125"/>
              <a:ext cx="173309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36.4 MB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06231" y="3415665"/>
              <a:ext cx="24777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engine_win64_gf.exe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1760" y="4120515"/>
            <a:ext cx="4916119" cy="981075"/>
            <a:chOff x="6461760" y="4120515"/>
            <a:chExt cx="4916119" cy="981075"/>
          </a:xfrm>
        </p:grpSpPr>
        <p:sp>
          <p:nvSpPr>
            <p:cNvPr id="17" name="TextBox 17"/>
            <p:cNvSpPr txBox="1"/>
            <p:nvPr/>
          </p:nvSpPr>
          <p:spPr>
            <a:xfrm>
              <a:off x="6467856" y="4120515"/>
              <a:ext cx="9587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Starter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1760" y="4514850"/>
              <a:ext cx="173309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23.5 MB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06231" y="4644390"/>
              <a:ext cx="26716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starter_win64_gf.exe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29056" y="4777740"/>
            <a:ext cx="4174922" cy="1152144"/>
            <a:chOff x="829056" y="4777740"/>
            <a:chExt cx="4174922" cy="1152144"/>
          </a:xfrm>
        </p:grpSpPr>
        <p:sp>
          <p:nvSpPr>
            <p:cNvPr id="21" name="TextBox 21"/>
            <p:cNvSpPr txBox="1"/>
            <p:nvPr/>
          </p:nvSpPr>
          <p:spPr>
            <a:xfrm>
              <a:off x="829056" y="47777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跑通性检查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056" y="5215890"/>
              <a:ext cx="41749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TWISBEAM smoke · LS-DYNA .k 输入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056" y="5577840"/>
              <a:ext cx="28090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并配置 VS Code 调试启动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31342" y="6178868"/>
            <a:ext cx="4166406" cy="264033"/>
            <a:chOff x="831342" y="6178868"/>
            <a:chExt cx="4166406" cy="264033"/>
          </a:xfrm>
        </p:grpSpPr>
        <p:sp>
          <p:nvSpPr>
            <p:cNvPr id="25" name="TextBox 25"/>
            <p:cNvSpPr txBox="1"/>
            <p:nvPr/>
          </p:nvSpPr>
          <p:spPr>
            <a:xfrm>
              <a:off x="831342" y="6178868"/>
              <a:ext cx="4166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构建于 2026-09-15；`_gf` 表示 gfortran 版本。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4991100" cy="819150"/>
            <a:chOff x="666750" y="365760"/>
            <a:chExt cx="499110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工程算例运行记录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26008" y="1760220"/>
            <a:ext cx="4525030" cy="3117342"/>
            <a:chOff x="826008" y="1760220"/>
            <a:chExt cx="4525030" cy="3117342"/>
          </a:xfrm>
        </p:grpSpPr>
        <p:sp>
          <p:nvSpPr>
            <p:cNvPr id="5" name="TextBox 5"/>
            <p:cNvSpPr txBox="1"/>
            <p:nvPr/>
          </p:nvSpPr>
          <p:spPr>
            <a:xfrm>
              <a:off x="826008" y="1760220"/>
              <a:ext cx="35442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Bird Strike · 鸟撞风挡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29818" y="2279332"/>
              <a:ext cx="4048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官方 Example 49 · SPH 鸟体 + 风挡壳体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38200" y="2609850"/>
              <a:ext cx="4381500" cy="114300"/>
            </a:xfrm>
            <a:custGeom>
              <a:avLst/>
              <a:gdLst/>
              <a:ahLst/>
              <a:cxnLst/>
              <a:rect l="l" t="t" r="r" b="b"/>
              <a:pathLst>
                <a:path w="4381500" h="114300">
                  <a:moveTo>
                    <a:pt x="0" y="47625"/>
                  </a:moveTo>
                  <a:cubicBezTo>
                    <a:pt x="1352550" y="0"/>
                    <a:pt x="2857500" y="114300"/>
                    <a:pt x="4381500" y="3810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8106" y="2948940"/>
              <a:ext cx="9587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57856" y="2948940"/>
              <a:ext cx="14834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 ERROR(S)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106" y="3368040"/>
              <a:ext cx="764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Engine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57856" y="3368040"/>
              <a:ext cx="26931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NORMAL TERMINATION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5058" y="3836670"/>
              <a:ext cx="11438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16,634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72106" y="3901440"/>
              <a:ext cx="757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cycles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02558" y="383667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3,042 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5058" y="4408170"/>
              <a:ext cx="5841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0106" y="4472940"/>
              <a:ext cx="19129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帧动画 · 266 MB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521958" y="1760220"/>
            <a:ext cx="4725225" cy="2983230"/>
            <a:chOff x="6521958" y="1760220"/>
            <a:chExt cx="4725225" cy="2983230"/>
          </a:xfrm>
        </p:grpSpPr>
        <p:sp>
          <p:nvSpPr>
            <p:cNvPr id="18" name="TextBox 18"/>
            <p:cNvSpPr txBox="1"/>
            <p:nvPr/>
          </p:nvSpPr>
          <p:spPr>
            <a:xfrm>
              <a:off x="6521958" y="1760220"/>
              <a:ext cx="47252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Airbag Deployment · 气囊展开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25768" y="2279332"/>
              <a:ext cx="31499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LS-DYNA 格式输入卡 · 420 KB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534150" y="2600325"/>
              <a:ext cx="4371975" cy="133350"/>
            </a:xfrm>
            <a:custGeom>
              <a:avLst/>
              <a:gdLst/>
              <a:ahLst/>
              <a:cxnLst/>
              <a:rect l="l" t="t" r="r" b="b"/>
              <a:pathLst>
                <a:path w="4371975" h="133350">
                  <a:moveTo>
                    <a:pt x="0" y="57150"/>
                  </a:moveTo>
                  <a:cubicBezTo>
                    <a:pt x="1314450" y="0"/>
                    <a:pt x="2705100" y="133350"/>
                    <a:pt x="4371975" y="4762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44056" y="3177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输出动画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60308" y="3112770"/>
              <a:ext cx="8224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61 帧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3752850"/>
              <a:ext cx="4133850" cy="990600"/>
            </a:xfrm>
            <a:prstGeom prst="roundRect">
              <a:avLst>
                <a:gd name="adj" fmla="val 7692"/>
              </a:avLst>
            </a:prstGeom>
            <a:solidFill>
              <a:srgbClr val="FFF1C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72656" y="394906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A5200"/>
                  </a:solidFill>
                  <a:latin typeface="+mn-lt"/>
                  <a:ea typeface="+mn-ea"/>
                  <a:cs typeface="+mn-cs"/>
                </a:rPr>
                <a:t>此次未自然终止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72656" y="4320540"/>
              <a:ext cx="40379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日志到 A042 时由 CTRL-C 手工中断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48868" y="5803582"/>
            <a:ext cx="6902577" cy="322707"/>
            <a:chOff x="848868" y="5803582"/>
            <a:chExt cx="6902577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848868" y="5803582"/>
              <a:ext cx="690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两类算例证明求解器可处理工程输入；完成状态按各自运行日志区分。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4991100" cy="691515"/>
            <a:chOff x="666750" y="365760"/>
            <a:chExt cx="4991100" cy="691515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2944717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KF </a:t>
              </a:r>
              <a:r>
                <a:rPr lang="zh-CN" altLang="en-US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alt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J2</a:t>
              </a:r>
              <a:r>
                <a:rPr lang="zh-CN" altLang="en-US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</a:t>
              </a:r>
              <a:endPara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67156" y="1844040"/>
            <a:ext cx="10558348" cy="1356360"/>
            <a:chOff x="867156" y="1844040"/>
            <a:chExt cx="10558348" cy="1356360"/>
          </a:xfrm>
        </p:grpSpPr>
        <p:sp>
          <p:nvSpPr>
            <p:cNvPr id="5" name="TextBox 5"/>
            <p:cNvSpPr txBox="1"/>
            <p:nvPr/>
          </p:nvSpPr>
          <p:spPr>
            <a:xfrm>
              <a:off x="867156" y="1844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材料卡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876300" y="2286000"/>
              <a:ext cx="2514600" cy="914400"/>
            </a:xfrm>
            <a:prstGeom prst="roundRect">
              <a:avLst>
                <a:gd name="adj" fmla="val 8333"/>
              </a:avLst>
            </a:prstGeom>
            <a:solidFill>
              <a:srgbClr val="E8F0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01268" y="2407920"/>
              <a:ext cx="22646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/MAT/USER02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86789" y="279654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IUSER = 2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467100" y="2705100"/>
              <a:ext cx="1447800" cy="104775"/>
            </a:xfrm>
            <a:custGeom>
              <a:avLst/>
              <a:gdLst/>
              <a:ahLst/>
              <a:cxnLst/>
              <a:rect l="l" t="t" r="r" b="b"/>
              <a:pathLst>
                <a:path w="1447800" h="104775">
                  <a:moveTo>
                    <a:pt x="0" y="47625"/>
                  </a:moveTo>
                  <a:cubicBezTo>
                    <a:pt x="533400" y="0"/>
                    <a:pt x="895350" y="104775"/>
                    <a:pt x="1447800" y="4762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58156" y="1844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求解器映射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67300" y="2286000"/>
              <a:ext cx="2514600" cy="9144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23829" y="2407920"/>
              <a:ext cx="16015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ILAW = 99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43372" y="2796540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LAW99 入口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7658100" y="2705100"/>
              <a:ext cx="1447800" cy="104775"/>
            </a:xfrm>
            <a:custGeom>
              <a:avLst/>
              <a:gdLst/>
              <a:ahLst/>
              <a:cxnLst/>
              <a:rect l="l" t="t" r="r" b="b"/>
              <a:pathLst>
                <a:path w="1447800" h="104775">
                  <a:moveTo>
                    <a:pt x="0" y="47625"/>
                  </a:moveTo>
                  <a:cubicBezTo>
                    <a:pt x="533400" y="0"/>
                    <a:pt x="914400" y="104775"/>
                    <a:pt x="144780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49156" y="1844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动态用户库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258300" y="2286000"/>
              <a:ext cx="2038350" cy="914400"/>
            </a:xfrm>
            <a:prstGeom prst="roundRect">
              <a:avLst>
                <a:gd name="adj" fmla="val 8333"/>
              </a:avLst>
            </a:prstGeom>
            <a:solidFill>
              <a:srgbClr val="DDF2E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72996" y="2407920"/>
              <a:ext cx="12089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KF 模型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29446" y="2796540"/>
              <a:ext cx="22960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25 参数 · 8 状态变量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05256" y="4206240"/>
            <a:ext cx="9252212" cy="1971294"/>
            <a:chOff x="905256" y="4206240"/>
            <a:chExt cx="9252212" cy="1971294"/>
          </a:xfrm>
        </p:grpSpPr>
        <p:sp>
          <p:nvSpPr>
            <p:cNvPr id="20" name="TextBox 20"/>
            <p:cNvSpPr txBox="1"/>
            <p:nvPr/>
          </p:nvSpPr>
          <p:spPr>
            <a:xfrm>
              <a:off x="905256" y="4206240"/>
              <a:ext cx="42638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从开发机迁移到本机 MinGW gfortran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933450" y="4552950"/>
              <a:ext cx="6438900" cy="133350"/>
            </a:xfrm>
            <a:custGeom>
              <a:avLst/>
              <a:gdLst/>
              <a:ahLst/>
              <a:cxnLst/>
              <a:rect l="l" t="t" r="r" b="b"/>
              <a:pathLst>
                <a:path w="6438900" h="133350">
                  <a:moveTo>
                    <a:pt x="0" y="66675"/>
                  </a:moveTo>
                  <a:cubicBezTo>
                    <a:pt x="2190750" y="0"/>
                    <a:pt x="4191000" y="133350"/>
                    <a:pt x="6438900" y="57150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3356" y="49491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原环境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0308" y="5246370"/>
              <a:ext cx="24797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MSVC / VS2022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3562350" y="5162550"/>
              <a:ext cx="2590800" cy="171450"/>
            </a:xfrm>
            <a:custGeom>
              <a:avLst/>
              <a:gdLst/>
              <a:ahLst/>
              <a:cxnLst/>
              <a:rect l="l" t="t" r="r" b="b"/>
              <a:pathLst>
                <a:path w="2590800" h="171450">
                  <a:moveTo>
                    <a:pt x="0" y="76200"/>
                  </a:moveTo>
                  <a:cubicBezTo>
                    <a:pt x="895350" y="0"/>
                    <a:pt x="1676400" y="171450"/>
                    <a:pt x="2590800" y="7620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10706" y="49491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07658" y="5246370"/>
              <a:ext cx="374981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MinGW-w64 / gfortran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5256" y="582549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改动范围小：无需重编译求解器，也无需改项目源码或测试卡。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6822948" cy="819150"/>
            <a:chOff x="666750" y="365760"/>
            <a:chExt cx="6822948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682294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本机适配与自动化运行流程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24306" y="2038350"/>
            <a:ext cx="10327081" cy="1752600"/>
            <a:chOff x="924306" y="2038350"/>
            <a:chExt cx="10327081" cy="1752600"/>
          </a:xfrm>
        </p:grpSpPr>
        <p:sp>
          <p:nvSpPr>
            <p:cNvPr id="5" name="Freeform 5"/>
            <p:cNvSpPr/>
            <p:nvPr/>
          </p:nvSpPr>
          <p:spPr>
            <a:xfrm>
              <a:off x="1295400" y="2152650"/>
              <a:ext cx="9677400" cy="123825"/>
            </a:xfrm>
            <a:custGeom>
              <a:avLst/>
              <a:gdLst/>
              <a:ahLst/>
              <a:cxnLst/>
              <a:rect l="l" t="t" r="r" b="b"/>
              <a:pathLst>
                <a:path w="9677400" h="123825">
                  <a:moveTo>
                    <a:pt x="0" y="57150"/>
                  </a:moveTo>
                  <a:cubicBezTo>
                    <a:pt x="2533650" y="0"/>
                    <a:pt x="4648200" y="123825"/>
                    <a:pt x="7200900" y="47625"/>
                  </a:cubicBezTo>
                  <a:cubicBezTo>
                    <a:pt x="8382000" y="9525"/>
                    <a:pt x="9086850" y="76200"/>
                    <a:pt x="9677400" y="47625"/>
                  </a:cubicBezTo>
                </a:path>
              </a:pathLst>
            </a:custGeom>
            <a:noFill/>
            <a:ln w="476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Ellipse 6"/>
            <p:cNvSpPr/>
            <p:nvPr/>
          </p:nvSpPr>
          <p:spPr>
            <a:xfrm>
              <a:off x="1200150" y="20383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Ellipse 7"/>
            <p:cNvSpPr/>
            <p:nvPr/>
          </p:nvSpPr>
          <p:spPr>
            <a:xfrm>
              <a:off x="3924300" y="20383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Ellipse 8"/>
            <p:cNvSpPr/>
            <p:nvPr/>
          </p:nvSpPr>
          <p:spPr>
            <a:xfrm>
              <a:off x="6648450" y="20383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Ellipse 9"/>
            <p:cNvSpPr/>
            <p:nvPr/>
          </p:nvSpPr>
          <p:spPr>
            <a:xfrm>
              <a:off x="9391650" y="20383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00506" y="2586990"/>
              <a:ext cx="10545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构建 DLL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4306" y="2987040"/>
              <a:ext cx="15794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Ninja + MinGW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24656" y="25869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材料点验证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58006" y="2987040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项检查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86906" y="2586990"/>
              <a:ext cx="2084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Starter / Engine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86906" y="2987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单砖与多单元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49156" y="25869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结果转换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287256" y="2987040"/>
              <a:ext cx="19641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动画 / T01 CSV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990600" y="3619500"/>
              <a:ext cx="9963150" cy="171450"/>
            </a:xfrm>
            <a:custGeom>
              <a:avLst/>
              <a:gdLst/>
              <a:ahLst/>
              <a:cxnLst/>
              <a:rect l="l" t="t" r="r" b="b"/>
              <a:pathLst>
                <a:path w="9963150" h="171450">
                  <a:moveTo>
                    <a:pt x="0" y="76200"/>
                  </a:moveTo>
                  <a:cubicBezTo>
                    <a:pt x="2590800" y="0"/>
                    <a:pt x="5562600" y="171450"/>
                    <a:pt x="9963150" y="6667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67156" y="4625340"/>
            <a:ext cx="7498519" cy="1628394"/>
            <a:chOff x="867156" y="4625340"/>
            <a:chExt cx="7498519" cy="1628394"/>
          </a:xfrm>
        </p:grpSpPr>
        <p:sp>
          <p:nvSpPr>
            <p:cNvPr id="20" name="TextBox 20"/>
            <p:cNvSpPr txBox="1"/>
            <p:nvPr/>
          </p:nvSpPr>
          <p:spPr>
            <a:xfrm>
              <a:off x="867156" y="46253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适配要点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7156" y="5063490"/>
              <a:ext cx="7110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运行时镜像用硬链接复用 GF 求解器与配置，提供兼容文件名。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7156" y="5482590"/>
              <a:ext cx="74985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`libgcc_s_seh-1.dll` 与用户库同目录，满足 Python ctypes 加载。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7156" y="590169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脚本自动检查工具链与转换器路径；编译或验证失败即停止。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6741498" cy="819150"/>
            <a:chOff x="666750" y="365760"/>
            <a:chExt cx="6741498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674149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GUI 与应力后处理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6008" y="1779270"/>
            <a:ext cx="4488942" cy="3102864"/>
            <a:chOff x="826008" y="1779270"/>
            <a:chExt cx="4488942" cy="3102864"/>
          </a:xfrm>
        </p:grpSpPr>
        <p:sp>
          <p:nvSpPr>
            <p:cNvPr id="5" name="TextBox 5"/>
            <p:cNvSpPr txBox="1"/>
            <p:nvPr/>
          </p:nvSpPr>
          <p:spPr>
            <a:xfrm>
              <a:off x="826008" y="1779270"/>
              <a:ext cx="33476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Python / Tk 图形界面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29056" y="2339340"/>
              <a:ext cx="29624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 .rad / .k / .inp 算例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9056" y="2777490"/>
              <a:ext cx="26298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设置线程数与 MPI 进程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857250" y="3181350"/>
              <a:ext cx="4457700" cy="123825"/>
            </a:xfrm>
            <a:custGeom>
              <a:avLst/>
              <a:gdLst/>
              <a:ahLst/>
              <a:cxnLst/>
              <a:rect l="l" t="t" r="r" b="b"/>
              <a:pathLst>
                <a:path w="4457700" h="123825">
                  <a:moveTo>
                    <a:pt x="0" y="57150"/>
                  </a:moveTo>
                  <a:cubicBezTo>
                    <a:pt x="1200150" y="0"/>
                    <a:pt x="2857500" y="123825"/>
                    <a:pt x="4457700" y="4762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8106" y="3539490"/>
              <a:ext cx="29624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提交任务 · 查看与管理队列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106" y="3939540"/>
              <a:ext cx="28474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动画转 VTK · 时程转 CSV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8106" y="45300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求解与结果转换入口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4808" y="1779270"/>
            <a:ext cx="4565142" cy="3102864"/>
            <a:chOff x="6464808" y="1779270"/>
            <a:chExt cx="4565142" cy="3102864"/>
          </a:xfrm>
        </p:grpSpPr>
        <p:sp>
          <p:nvSpPr>
            <p:cNvPr id="13" name="TextBox 13"/>
            <p:cNvSpPr txBox="1"/>
            <p:nvPr/>
          </p:nvSpPr>
          <p:spPr>
            <a:xfrm>
              <a:off x="6464808" y="177927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应力分析与云图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7856" y="2339340"/>
              <a:ext cx="36363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HyperView 读取 RADIOSS A 动画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67856" y="2777490"/>
              <a:ext cx="33975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Stress 张量：SX / SY / SZ 等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496050" y="3181350"/>
              <a:ext cx="4533900" cy="123825"/>
            </a:xfrm>
            <a:custGeom>
              <a:avLst/>
              <a:gdLst/>
              <a:ahLst/>
              <a:cxnLst/>
              <a:rect l="l" t="t" r="r" b="b"/>
              <a:pathLst>
                <a:path w="4533900" h="123825">
                  <a:moveTo>
                    <a:pt x="0" y="57150"/>
                  </a:moveTo>
                  <a:cubicBezTo>
                    <a:pt x="1314450" y="0"/>
                    <a:pt x="2933700" y="123825"/>
                    <a:pt x="453390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86906" y="3539490"/>
              <a:ext cx="30798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Von Mises · Plastic Strain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86906" y="39395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多单元结果可见空间应力梯度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86906" y="45300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支持应力分布分析与云图查看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67156" y="5425440"/>
            <a:ext cx="7962234" cy="1100899"/>
            <a:chOff x="867156" y="5425440"/>
            <a:chExt cx="7962234" cy="1100899"/>
          </a:xfrm>
        </p:grpSpPr>
        <p:sp>
          <p:nvSpPr>
            <p:cNvPr id="21" name="TextBox 21"/>
            <p:cNvSpPr txBox="1"/>
            <p:nvPr/>
          </p:nvSpPr>
          <p:spPr>
            <a:xfrm>
              <a:off x="867156" y="5425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结果链路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81606" y="5425440"/>
              <a:ext cx="66477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Python GUI 提交求解 → A 动画 / 时程转换 → HyperView 分析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7156" y="5825490"/>
              <a:ext cx="77052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H3D v24 在 HW14 下不可读；较新 HyperWorks 可查看 KF 内部变量。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7918" y="6203632"/>
              <a:ext cx="48280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适用算例：KF 单砖 · J2 基线 · KF 多单元轴压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365760"/>
            <a:ext cx="7672974" cy="1072515"/>
            <a:chOff x="666750" y="365760"/>
            <a:chExt cx="7672974" cy="1072515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767297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下一阶段：VS2022 环境适配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14756" y="1005840"/>
              <a:ext cx="67301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目标：复现 OpenRadioss 构建，并复验 LAW99 用户本构闭环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723900" y="1333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4108" y="2057400"/>
            <a:ext cx="10394442" cy="2524125"/>
            <a:chOff x="864108" y="2057400"/>
            <a:chExt cx="10394442" cy="2524125"/>
          </a:xfrm>
        </p:grpSpPr>
        <p:sp>
          <p:nvSpPr>
            <p:cNvPr id="6" name="Freeform 6"/>
            <p:cNvSpPr/>
            <p:nvPr/>
          </p:nvSpPr>
          <p:spPr>
            <a:xfrm>
              <a:off x="1257300" y="2209800"/>
              <a:ext cx="9372600" cy="123825"/>
            </a:xfrm>
            <a:custGeom>
              <a:avLst/>
              <a:gdLst/>
              <a:ahLst/>
              <a:cxnLst/>
              <a:rect l="l" t="t" r="r" b="b"/>
              <a:pathLst>
                <a:path w="9372600" h="123825">
                  <a:moveTo>
                    <a:pt x="0" y="57150"/>
                  </a:moveTo>
                  <a:cubicBezTo>
                    <a:pt x="2667000" y="0"/>
                    <a:pt x="5314950" y="123825"/>
                    <a:pt x="9372600" y="47625"/>
                  </a:cubicBezTo>
                </a:path>
              </a:pathLst>
            </a:custGeom>
            <a:noFill/>
            <a:ln w="476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Ellipse 7"/>
            <p:cNvSpPr/>
            <p:nvPr/>
          </p:nvSpPr>
          <p:spPr>
            <a:xfrm>
              <a:off x="1143000" y="2057400"/>
              <a:ext cx="419100" cy="419100"/>
            </a:xfrm>
            <a:prstGeom prst="ellipse">
              <a:avLst/>
            </a:prstGeom>
            <a:solidFill>
              <a:srgbClr val="DCE9F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3437" y="21583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810250" y="2057400"/>
              <a:ext cx="419100" cy="419100"/>
            </a:xfrm>
            <a:prstGeom prst="ellipse">
              <a:avLst/>
            </a:prstGeom>
            <a:solidFill>
              <a:srgbClr val="DDF2E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40687" y="21583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10267950" y="2057400"/>
              <a:ext cx="419100" cy="419100"/>
            </a:xfrm>
            <a:prstGeom prst="ellipse">
              <a:avLst/>
            </a:prstGeom>
            <a:solidFill>
              <a:srgbClr val="FFF1C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98387" y="21583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A16A00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4108" y="265557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配置工具链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7156" y="3196590"/>
              <a:ext cx="18694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VS2022 · CMake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7156" y="3596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核对编译器与依赖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7156" y="40347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确定可复现配置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76300" y="4457700"/>
              <a:ext cx="3162300" cy="123825"/>
            </a:xfrm>
            <a:custGeom>
              <a:avLst/>
              <a:gdLst/>
              <a:ahLst/>
              <a:cxnLst/>
              <a:rect l="l" t="t" r="r" b="b"/>
              <a:pathLst>
                <a:path w="3162300" h="123825">
                  <a:moveTo>
                    <a:pt x="0" y="57150"/>
                  </a:moveTo>
                  <a:cubicBezTo>
                    <a:pt x="933450" y="0"/>
                    <a:pt x="2038350" y="123825"/>
                    <a:pt x="3162300" y="4762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69358" y="265557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构建求解器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72406" y="3196590"/>
              <a:ext cx="19859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Starter + Engine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72406" y="3596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处理平台配置差异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72406" y="40347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检查构建与启动状态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781550" y="4457700"/>
              <a:ext cx="3162300" cy="123825"/>
            </a:xfrm>
            <a:custGeom>
              <a:avLst/>
              <a:gdLst/>
              <a:ahLst/>
              <a:cxnLst/>
              <a:rect l="l" t="t" r="r" b="b"/>
              <a:pathLst>
                <a:path w="3162300" h="123825">
                  <a:moveTo>
                    <a:pt x="0" y="57150"/>
                  </a:moveTo>
                  <a:cubicBezTo>
                    <a:pt x="952500" y="0"/>
                    <a:pt x="2057400" y="123825"/>
                    <a:pt x="316230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3608" y="2655570"/>
              <a:ext cx="187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复验 LAW99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96656" y="31965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重建用户库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96656" y="35966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重跑材料点与求解算例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96656" y="4034790"/>
              <a:ext cx="23984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对照当前 MinGW 结果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8305800" y="4457700"/>
              <a:ext cx="2952750" cy="123825"/>
            </a:xfrm>
            <a:custGeom>
              <a:avLst/>
              <a:gdLst/>
              <a:ahLst/>
              <a:cxnLst/>
              <a:rect l="l" t="t" r="r" b="b"/>
              <a:pathLst>
                <a:path w="2952750" h="123825">
                  <a:moveTo>
                    <a:pt x="0" y="57150"/>
                  </a:moveTo>
                  <a:cubicBezTo>
                    <a:pt x="933450" y="0"/>
                    <a:pt x="2019300" y="123825"/>
                    <a:pt x="2952750" y="4762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76300" y="5410200"/>
            <a:ext cx="10287000" cy="647700"/>
            <a:chOff x="876300" y="5410200"/>
            <a:chExt cx="10287000" cy="647700"/>
          </a:xfrm>
        </p:grpSpPr>
        <p:sp>
          <p:nvSpPr>
            <p:cNvPr id="29" name="Rectangle 29"/>
            <p:cNvSpPr/>
            <p:nvPr/>
          </p:nvSpPr>
          <p:spPr>
            <a:xfrm>
              <a:off x="876300" y="5410200"/>
              <a:ext cx="10287000" cy="647700"/>
            </a:xfrm>
            <a:prstGeom prst="roundRect">
              <a:avLst>
                <a:gd name="adj" fmla="val 1176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4806" y="5634990"/>
              <a:ext cx="6955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交付：可复现的 VS2022 构建步骤、平台差异记录与回归结果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penRadioss_Group_Meeting">
  <a:themeElements>
    <a:clrScheme name="OpenRadioss_Group_Meeting">
      <a:dk1>
        <a:srgbClr val="202124"/>
      </a:dk1>
      <a:lt1>
        <a:srgbClr val="FFFFFF"/>
      </a:lt1>
      <a:dk2>
        <a:srgbClr val="1F497D"/>
      </a:dk2>
      <a:lt2>
        <a:srgbClr val="F8F9FA"/>
      </a:lt2>
      <a:accent1>
        <a:srgbClr val="4285F4"/>
      </a:accent1>
      <a:accent2>
        <a:srgbClr val="34A853"/>
      </a:accent2>
      <a:accent3>
        <a:srgbClr val="FBBC05"/>
      </a:accent3>
      <a:accent4>
        <a:srgbClr val="4285F4"/>
      </a:accent4>
      <a:accent5>
        <a:srgbClr val="5F6368"/>
      </a:accent5>
      <a:accent6>
        <a:srgbClr val="DADCE0"/>
      </a:accent6>
      <a:hlink>
        <a:srgbClr val="34A853"/>
      </a:hlink>
      <a:folHlink>
        <a:srgbClr val="FBBC05"/>
      </a:folHlink>
    </a:clrScheme>
    <a:fontScheme name="OpenRadioss_Group_Meeting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Radioss_Group_Meet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penRadioss_Group_Meeting">
  <a:themeElements>
    <a:clrScheme name="OpenRadioss_Group_Meeting">
      <a:dk1>
        <a:srgbClr val="202124"/>
      </a:dk1>
      <a:lt1>
        <a:srgbClr val="FFFFFF"/>
      </a:lt1>
      <a:dk2>
        <a:srgbClr val="1F497D"/>
      </a:dk2>
      <a:lt2>
        <a:srgbClr val="F8F9FA"/>
      </a:lt2>
      <a:accent1>
        <a:srgbClr val="4285F4"/>
      </a:accent1>
      <a:accent2>
        <a:srgbClr val="34A853"/>
      </a:accent2>
      <a:accent3>
        <a:srgbClr val="FBBC05"/>
      </a:accent3>
      <a:accent4>
        <a:srgbClr val="4285F4"/>
      </a:accent4>
      <a:accent5>
        <a:srgbClr val="5F6368"/>
      </a:accent5>
      <a:accent6>
        <a:srgbClr val="DADCE0"/>
      </a:accent6>
      <a:hlink>
        <a:srgbClr val="34A853"/>
      </a:hlink>
      <a:folHlink>
        <a:srgbClr val="FBBC05"/>
      </a:folHlink>
    </a:clrScheme>
    <a:fontScheme name="OpenRadioss_Group_Meeting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Radioss_Group_Meet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1620</Words>
  <Application>Microsoft Office PowerPoint</Application>
  <PresentationFormat>宽屏</PresentationFormat>
  <Paragraphs>138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Segoe UI</vt:lpstr>
      <vt:lpstr>OpenRadioss_Group_Meeting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guo'yang lai</cp:lastModifiedBy>
  <cp:revision>3</cp:revision>
  <dcterms:created xsi:type="dcterms:W3CDTF">2026-10-08T10:40:59Z</dcterms:created>
  <dcterms:modified xsi:type="dcterms:W3CDTF">2026-10-08T11:01:51Z</dcterms:modified>
  <cp:category/>
  <cp:contentStatus/>
  <dc:language>zh-CN</dc:language>
</cp:coreProperties>
</file>