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今天汇报 2026 年 9 月 8 日到 10 月 8 日的工作。主线是从源码可以编译，推进到 KF 用户本构可以接入、完成数值验证并产生可后处理结果。需要先说明结论边界：目前建立的是软件接口和数值流程闭环，材料预测能力仍需要实验标定和模型完善。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本月工作分为三个阶段。第一阶段在没有 Visual Studio 的本机上，使用 MinGW gfortran 构建 Starter 和 Engine，并做冒烟与输入兼容检查。第二阶段运行鸟撞风挡和气囊展开两个工程算例，其中鸟撞自然终止并输出 101 帧，气囊此次只生成 61 帧，运行在 A042 处被手工中断。第三阶段完成 KF LAW99 的本机适配、材料点与求解验证，以及动画和结果文件的后处理链路。接下来重点讲第三阶段，同时保留前两阶段的运行状态区别。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本机没有 Visual Studio，因此使用仓库提供的 MinGW gfortran 工具链。构建过程中修正了 CMake 条件比较的变量引用方式，使其兼容新版 CMake 解析。最终生成 Engine 和 Starter 两个可执行文件，大小分别为 36.4 MB 和 23.5 MB。通过 TWISBEAM 冒烟测试和 LS-DYNA 的 .k 输入检查确认基本运行链路可用，并配置了 VS Code 调试启动。文件名中的 gf 标识 gfortran 构建版本，构建时间为 9 月 15 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鸟撞风挡算例使用官方 Example 49，Starter 报告零错误，Engine 正常终止，共运行 16,634 个循环，耗时 3,042 秒，内存约 266 MB，并输出 101 帧动画。气囊展开算例读取 LS-DYNA 格式输入卡，产生了 61 帧动画，但这次运行并未自然结束；日志写到 A042 时由人工按下 CTRL-C 中断。两者分别证明了实际工程输入的处理能力和当前运行产物，不能把气囊结果描述为完整求解。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KF 模型通过动态用户库接入，材料卡使用 /MAT/USER02，求解器内部映射到 ILAW 等于 99，再调用用户本构。模型包含 25 个参数和 8 个状态变量。本次迁移是从 MSVC 与 Visual Studio 2022 开发环境转到本机 MinGW gfortran。检查求解器后确认已有动态用户库支持，DLL 文件名保持一致，用户库源码为纯 C，因此不需要重新编译求解器，也没有改动项目源码或测试卡。这样把适配范围收敛在本机编译和运行环境。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本机脚本把用户库构建、八项材料点验证、Starter 与 Engine 求解，以及结果转换连成一个自动流程。它覆盖单砖和多单元模型，并将动画和 T01 数据输出到可检查的位置。实现中有两处环境约束值得记住：编译使用 Ninja，以避开含中文路径时 mingw32-make 的编码问题；Python ctypes 加载用户库时，libgcc_s_seh-1.dll 需要与用户库 DLL 放在同一目录。脚本会预先检查工具链和转换器，任一编译或验证步骤失败就停止，避免留下看似成功的不完整结果。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DLL 材料点矩阵八项检查全部通过，覆盖静水压缩、大静水压缩、单轴压缩和拉伸、简单剪切、客观性、应变率效应与冲击率扫描。P-alpha 状态方程的一致性检查中，最大压力相对误差为零。OpenRadioss 单砖求解的 Starter 零错误，Engine 正常终止，运行八个循环并输出四乘五十五的 T01 CSV。Step 11 汇总为四项 PASS、三项 NOT_CERTIFIED。这里得到的证据支持接口和数值闭环已经跑通，但不等于实验标定，也不等于复杂冲击问题已验证。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四项通过项分别是 DLL 材料点矩阵、P-alpha 状态方程一致性、材料点步长敏感性，以及单砖求解和 T01 完整性。三项 NOT_CERTIFIED 分别对应率效应标定、冲击基准和网格客观性。它们各有明确的证据缺口：率效应需要 SHPB 等动态实验数据，冲击基准需要试验或对照有限元案例，损伤模型则缺少特征长度或断裂能正则化。因此这三项未认证是当前预期的研究边界，不是本机适配失败。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OpenRadioss 的 Python/Tk 图形界面可以选择 .rad、.k 或 .inp 算例，设置线程数和 MPI 进程，提交任务并管理运行队列，也提供动画转 VTK、时程转 CSV 等结果转换选项。求解完成后，当前 HyperWorks 14 可通过 RADIOSS A 文件读取器查看动画结果。多单元轴压模型已输出应力张量、Von Mises 等结果，可在 HyperView 中分析 SX、SY、SZ 等分量并查看空间应力梯度和应力云图。H3D writer 输出 v24，当前 HW14 无法读取；较新版本才可查看 KF 的损伤、孔隙率和压力等内部变量。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下一阶段将把重点转到 Visual Studio 2022 环境下的 OpenRadioss 适配。首先核对 VS2022、CMake 以及项目所需编译器和依赖的配置，再构建 Starter 与 Engine 并检查运行状态。随后在该环境重建 LAW99 动态用户库，重跑八项材料点矩阵、单砖求解和多单元算例，并与当前 MinGW 版本的运行状态及关键数值对照。最后整理平台差异和可复现的构建步骤，形成后续迁移与维护依据。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penRadioss_Group_Meet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penRadioss_Group_Meet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19150" y="1615440"/>
            <a:ext cx="8386523" cy="1398270"/>
            <a:chOff x="819150" y="1615440"/>
            <a:chExt cx="8386523" cy="1398270"/>
          </a:xfrm>
        </p:grpSpPr>
        <p:sp>
          <p:nvSpPr>
            <p:cNvPr id="2" name="TextBox 2"/>
            <p:cNvSpPr txBox="1"/>
            <p:nvPr/>
          </p:nvSpPr>
          <p:spPr>
            <a:xfrm>
              <a:off x="867156" y="1615440"/>
              <a:ext cx="26795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组会汇报 · 2026.09—10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19150" y="2194560"/>
              <a:ext cx="838652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本机二次开发进展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876300" y="2809875"/>
              <a:ext cx="7772400" cy="190500"/>
            </a:xfrm>
            <a:custGeom>
              <a:avLst/>
              <a:gdLst/>
              <a:ahLst/>
              <a:cxnLst/>
              <a:rect l="l" t="t" r="r" b="b"/>
              <a:pathLst>
                <a:path w="7772400" h="190500">
                  <a:moveTo>
                    <a:pt x="0" y="95250"/>
                  </a:moveTo>
                  <a:cubicBezTo>
                    <a:pt x="1600200" y="0"/>
                    <a:pt x="3124200" y="190500"/>
                    <a:pt x="4743450" y="85725"/>
                  </a:cubicBezTo>
                  <a:cubicBezTo>
                    <a:pt x="5886450" y="19050"/>
                    <a:pt x="6838950" y="133350"/>
                    <a:pt x="7772400" y="57150"/>
                  </a:cubicBezTo>
                </a:path>
              </a:pathLst>
            </a:custGeom>
            <a:noFill/>
            <a:ln w="66675" cap="rnd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83158" y="3360420"/>
            <a:ext cx="7132320" cy="912114"/>
            <a:chOff x="883158" y="3360420"/>
            <a:chExt cx="7132320" cy="912114"/>
          </a:xfrm>
        </p:grpSpPr>
        <p:sp>
          <p:nvSpPr>
            <p:cNvPr id="6" name="TextBox 6"/>
            <p:cNvSpPr txBox="1"/>
            <p:nvPr/>
          </p:nvSpPr>
          <p:spPr>
            <a:xfrm>
              <a:off x="883158" y="336042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从源码能编译，推进到用户本构可运行并可后处理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5256" y="3920490"/>
              <a:ext cx="566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统计区间 2026-09-08 至 2026-10-08　·　9 次提交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9650" y="5172075"/>
            <a:ext cx="10086975" cy="367284"/>
            <a:chOff x="1009650" y="5172075"/>
            <a:chExt cx="10086975" cy="367284"/>
          </a:xfrm>
        </p:grpSpPr>
        <p:sp>
          <p:nvSpPr>
            <p:cNvPr id="9" name="Freeform 9"/>
            <p:cNvSpPr/>
            <p:nvPr/>
          </p:nvSpPr>
          <p:spPr>
            <a:xfrm>
              <a:off x="1009650" y="5238750"/>
              <a:ext cx="10086975" cy="123825"/>
            </a:xfrm>
            <a:custGeom>
              <a:avLst/>
              <a:gdLst/>
              <a:ahLst/>
              <a:cxnLst/>
              <a:rect l="l" t="t" r="r" b="b"/>
              <a:pathLst>
                <a:path w="10086975" h="123825">
                  <a:moveTo>
                    <a:pt x="0" y="57150"/>
                  </a:moveTo>
                  <a:cubicBezTo>
                    <a:pt x="2133600" y="0"/>
                    <a:pt x="3848100" y="123825"/>
                    <a:pt x="5991225" y="57150"/>
                  </a:cubicBezTo>
                  <a:cubicBezTo>
                    <a:pt x="7562850" y="9525"/>
                    <a:pt x="8801100" y="95250"/>
                    <a:pt x="10086975" y="3810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95375" y="5172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857875" y="5172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48925" y="5172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958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583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956" y="5187315"/>
              <a:ext cx="274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验证与后处理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88492" y="6255068"/>
            <a:ext cx="2611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计算力学课题组 · OpenRadioss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本月工作的三阶段进展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09625" y="1714500"/>
            <a:ext cx="2657475" cy="3320034"/>
            <a:chOff x="809625" y="1714500"/>
            <a:chExt cx="2657475" cy="3320034"/>
          </a:xfrm>
        </p:grpSpPr>
        <p:sp>
          <p:nvSpPr>
            <p:cNvPr id="5" name="Ellipse 5"/>
            <p:cNvSpPr/>
            <p:nvPr/>
          </p:nvSpPr>
          <p:spPr>
            <a:xfrm>
              <a:off x="809625" y="1714500"/>
              <a:ext cx="514350" cy="51435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177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546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1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09-09 — 09-17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76300" y="2838450"/>
              <a:ext cx="2590800" cy="85725"/>
            </a:xfrm>
            <a:custGeom>
              <a:avLst/>
              <a:gdLst/>
              <a:ahLst/>
              <a:cxnLst/>
              <a:rect l="l" t="t" r="r" b="b"/>
              <a:pathLst>
                <a:path w="2590800" h="85725">
                  <a:moveTo>
                    <a:pt x="0" y="38100"/>
                  </a:moveTo>
                  <a:cubicBezTo>
                    <a:pt x="800100" y="0"/>
                    <a:pt x="1600200" y="85725"/>
                    <a:pt x="2590800" y="2857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3196590"/>
              <a:ext cx="1319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排错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156" y="3596640"/>
              <a:ext cx="2548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 构建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冒烟与输入兼容检查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7156" y="4682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双可执行文件可运行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5325" y="1714500"/>
            <a:ext cx="2828925" cy="3320034"/>
            <a:chOff x="4505325" y="1714500"/>
            <a:chExt cx="2828925" cy="3320034"/>
          </a:xfrm>
        </p:grpSpPr>
        <p:sp>
          <p:nvSpPr>
            <p:cNvPr id="15" name="Ellipse 15"/>
            <p:cNvSpPr/>
            <p:nvPr/>
          </p:nvSpPr>
          <p:spPr>
            <a:xfrm>
              <a:off x="4505325" y="1714500"/>
              <a:ext cx="514350" cy="51435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134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03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09-22 — 09-25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72000" y="2819400"/>
              <a:ext cx="2762250" cy="123825"/>
            </a:xfrm>
            <a:custGeom>
              <a:avLst/>
              <a:gdLst/>
              <a:ahLst/>
              <a:cxnLst/>
              <a:rect l="l" t="t" r="r" b="b"/>
              <a:pathLst>
                <a:path w="2762250" h="123825">
                  <a:moveTo>
                    <a:pt x="0" y="57150"/>
                  </a:moveTo>
                  <a:cubicBezTo>
                    <a:pt x="895350" y="0"/>
                    <a:pt x="1866900" y="123825"/>
                    <a:pt x="276225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2856" y="3196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鸟撞风挡自然终止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2856" y="3596640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101 帧动画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2856" y="3996690"/>
              <a:ext cx="2126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气囊展开生成 61 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2856" y="4682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实际问题规模运行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77225" y="1714500"/>
            <a:ext cx="2981325" cy="3320034"/>
            <a:chOff x="8277225" y="1714500"/>
            <a:chExt cx="2981325" cy="3320034"/>
          </a:xfrm>
        </p:grpSpPr>
        <p:sp>
          <p:nvSpPr>
            <p:cNvPr id="25" name="Ellipse 25"/>
            <p:cNvSpPr/>
            <p:nvPr/>
          </p:nvSpPr>
          <p:spPr>
            <a:xfrm>
              <a:off x="8277225" y="1714500"/>
              <a:ext cx="514350" cy="51435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853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2258" y="1817370"/>
              <a:ext cx="1583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7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09-27 — 09-30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343900" y="2809875"/>
              <a:ext cx="2914650" cy="133350"/>
            </a:xfrm>
            <a:custGeom>
              <a:avLst/>
              <a:gdLst/>
              <a:ahLst/>
              <a:cxnLst/>
              <a:rect l="l" t="t" r="r" b="b"/>
              <a:pathLst>
                <a:path w="2914650" h="133350">
                  <a:moveTo>
                    <a:pt x="0" y="66675"/>
                  </a:moveTo>
                  <a:cubicBezTo>
                    <a:pt x="895350" y="0"/>
                    <a:pt x="1847850" y="133350"/>
                    <a:pt x="2914650" y="571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4756" y="3196590"/>
              <a:ext cx="1822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本机适配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47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4756" y="3996690"/>
              <a:ext cx="2092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 / H3D 后处理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475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数值闭环已建立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2856" y="6044565"/>
            <a:ext cx="82570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重点：已验证软件接口与数值流程；材料预测能力仍待实验标定和模型完善。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653337" cy="819150"/>
            <a:chOff x="666750" y="365760"/>
            <a:chExt cx="7653337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5333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gfortran 求解器构建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6958" y="1615440"/>
            <a:ext cx="8732154" cy="861822"/>
            <a:chOff x="806958" y="1615440"/>
            <a:chExt cx="8732154" cy="861822"/>
          </a:xfrm>
        </p:grpSpPr>
        <p:sp>
          <p:nvSpPr>
            <p:cNvPr id="5" name="TextBox 5"/>
            <p:cNvSpPr txBox="1"/>
            <p:nvPr/>
          </p:nvSpPr>
          <p:spPr>
            <a:xfrm>
              <a:off x="810006" y="161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环境约束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6958" y="2007870"/>
              <a:ext cx="87321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本机没有 Visual Studio，使用仓库 MinGW gfortran 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56" y="2762250"/>
            <a:ext cx="4085844" cy="1434084"/>
            <a:chOff x="829056" y="2762250"/>
            <a:chExt cx="4085844" cy="1434084"/>
          </a:xfrm>
        </p:grpSpPr>
        <p:sp>
          <p:nvSpPr>
            <p:cNvPr id="8" name="Freeform 8"/>
            <p:cNvSpPr/>
            <p:nvPr/>
          </p:nvSpPr>
          <p:spPr>
            <a:xfrm>
              <a:off x="838200" y="2762250"/>
              <a:ext cx="4076700" cy="133350"/>
            </a:xfrm>
            <a:custGeom>
              <a:avLst/>
              <a:gdLst/>
              <a:ahLst/>
              <a:cxnLst/>
              <a:rect l="l" t="t" r="r" b="b"/>
              <a:pathLst>
                <a:path w="4076700" h="133350">
                  <a:moveTo>
                    <a:pt x="0" y="57150"/>
                  </a:moveTo>
                  <a:cubicBezTo>
                    <a:pt x="1200150" y="0"/>
                    <a:pt x="2400300" y="133350"/>
                    <a:pt x="40767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056" y="3063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构建排错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3501390"/>
              <a:ext cx="2806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条件比较加引号，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844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兼容新版变量解析。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61760" y="2891790"/>
            <a:ext cx="4722266" cy="981075"/>
            <a:chOff x="6461760" y="2891790"/>
            <a:chExt cx="4722266" cy="981075"/>
          </a:xfrm>
        </p:grpSpPr>
        <p:sp>
          <p:nvSpPr>
            <p:cNvPr id="13" name="TextBox 13"/>
            <p:cNvSpPr txBox="1"/>
            <p:nvPr/>
          </p:nvSpPr>
          <p:spPr>
            <a:xfrm>
              <a:off x="6467856" y="289179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1760" y="3286125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36.4 MB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6231" y="341566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engine_win64_gf.exe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1760" y="4120515"/>
            <a:ext cx="4916119" cy="981075"/>
            <a:chOff x="6461760" y="4120515"/>
            <a:chExt cx="4916119" cy="981075"/>
          </a:xfrm>
        </p:grpSpPr>
        <p:sp>
          <p:nvSpPr>
            <p:cNvPr id="17" name="TextBox 17"/>
            <p:cNvSpPr txBox="1"/>
            <p:nvPr/>
          </p:nvSpPr>
          <p:spPr>
            <a:xfrm>
              <a:off x="6467856" y="4120515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1760" y="4514850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23.5 MB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6231" y="4644390"/>
              <a:ext cx="2671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starter_win64_gf.exe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9056" y="4777740"/>
            <a:ext cx="4174922" cy="1152144"/>
            <a:chOff x="829056" y="4777740"/>
            <a:chExt cx="4174922" cy="1152144"/>
          </a:xfrm>
        </p:grpSpPr>
        <p:sp>
          <p:nvSpPr>
            <p:cNvPr id="21" name="TextBox 21"/>
            <p:cNvSpPr txBox="1"/>
            <p:nvPr/>
          </p:nvSpPr>
          <p:spPr>
            <a:xfrm>
              <a:off x="829056" y="4777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跑通性检查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056" y="5215890"/>
              <a:ext cx="417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TWISBEAM smoke · LS-DYNA .k 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056" y="5577840"/>
              <a:ext cx="2809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并配置 VS Code 调试启动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1342" y="6178868"/>
            <a:ext cx="4166406" cy="264033"/>
            <a:chOff x="831342" y="6178868"/>
            <a:chExt cx="416640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31342" y="6178868"/>
              <a:ext cx="416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构建于 2026-09-15；`_gf` 表示 gfortran 版本。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819150"/>
            <a:chOff x="666750" y="365760"/>
            <a:chExt cx="499110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工程算例运行记录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26008" y="1760220"/>
            <a:ext cx="4525030" cy="3117342"/>
            <a:chOff x="826008" y="1760220"/>
            <a:chExt cx="4525030" cy="3117342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60220"/>
              <a:ext cx="3544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Bird Strike · 鸟撞风挡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818" y="2279332"/>
              <a:ext cx="4048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Example 49 · SPH 鸟体 + 风挡壳体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38200" y="2609850"/>
              <a:ext cx="4381500" cy="114300"/>
            </a:xfrm>
            <a:custGeom>
              <a:avLst/>
              <a:gdLst/>
              <a:ahLst/>
              <a:cxnLst/>
              <a:rect l="l" t="t" r="r" b="b"/>
              <a:pathLst>
                <a:path w="4381500" h="114300">
                  <a:moveTo>
                    <a:pt x="0" y="47625"/>
                  </a:moveTo>
                  <a:cubicBezTo>
                    <a:pt x="1352550" y="0"/>
                    <a:pt x="2857500" y="114300"/>
                    <a:pt x="438150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106" y="294894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7856" y="2948940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ERROR(S)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36804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7856" y="3368040"/>
              <a:ext cx="2693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NORMAL TERMINATION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058" y="383667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16,634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2106" y="3901440"/>
              <a:ext cx="757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cycles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2558" y="383667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3,042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058" y="440817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106" y="447294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帧动画 · 266 MB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21958" y="1760220"/>
            <a:ext cx="4725225" cy="2983230"/>
            <a:chOff x="6521958" y="1760220"/>
            <a:chExt cx="4725225" cy="2983230"/>
          </a:xfrm>
        </p:grpSpPr>
        <p:sp>
          <p:nvSpPr>
            <p:cNvPr id="18" name="TextBox 18"/>
            <p:cNvSpPr txBox="1"/>
            <p:nvPr/>
          </p:nvSpPr>
          <p:spPr>
            <a:xfrm>
              <a:off x="6521958" y="1760220"/>
              <a:ext cx="47252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Airbag Deployment · 气囊展开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5768" y="2279332"/>
              <a:ext cx="3149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LS-DYNA 格式输入卡 · 420 KB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34150" y="2600325"/>
              <a:ext cx="4371975" cy="133350"/>
            </a:xfrm>
            <a:custGeom>
              <a:avLst/>
              <a:gdLst/>
              <a:ahLst/>
              <a:cxnLst/>
              <a:rect l="l" t="t" r="r" b="b"/>
              <a:pathLst>
                <a:path w="4371975" h="133350">
                  <a:moveTo>
                    <a:pt x="0" y="57150"/>
                  </a:moveTo>
                  <a:cubicBezTo>
                    <a:pt x="1314450" y="0"/>
                    <a:pt x="2705100" y="133350"/>
                    <a:pt x="4371975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4056" y="3177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0308" y="3112770"/>
              <a:ext cx="8224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 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752850"/>
              <a:ext cx="4133850" cy="990600"/>
            </a:xfrm>
            <a:prstGeom prst="roundRect">
              <a:avLst>
                <a:gd name="adj" fmla="val 7692"/>
              </a:avLst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2656" y="39490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A5200"/>
                  </a:solidFill>
                  <a:latin typeface="+mn-lt"/>
                  <a:ea typeface="+mn-ea"/>
                  <a:cs typeface="+mn-cs"/>
                </a:rPr>
                <a:t>此次未自然终止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2656" y="4320540"/>
              <a:ext cx="4037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日志到 A042 时由 CTRL-C 手工中断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8868" y="5803582"/>
            <a:ext cx="6902577" cy="322707"/>
            <a:chOff x="848868" y="5803582"/>
            <a:chExt cx="6902577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848868" y="58035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两类算例证明求解器可处理工程输入；完成状态按各自运行日志区分。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734209" cy="819150"/>
            <a:chOff x="666750" y="365760"/>
            <a:chExt cx="7734209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7342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动态用户本构接入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7156" y="1844040"/>
            <a:ext cx="10558348" cy="1356360"/>
            <a:chOff x="867156" y="1844040"/>
            <a:chExt cx="10558348" cy="1356360"/>
          </a:xfrm>
        </p:grpSpPr>
        <p:sp>
          <p:nvSpPr>
            <p:cNvPr id="5" name="TextBox 5"/>
            <p:cNvSpPr txBox="1"/>
            <p:nvPr/>
          </p:nvSpPr>
          <p:spPr>
            <a:xfrm>
              <a:off x="867156" y="1844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76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1268" y="2407920"/>
              <a:ext cx="2264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/MAT/USER02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6789" y="2796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IUSER = 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67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89535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58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求解器映射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67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23829" y="2407920"/>
              <a:ext cx="16015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ILAW = 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3372" y="27965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LAW99 入口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58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91440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49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动态用户库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58300" y="2286000"/>
              <a:ext cx="2038350" cy="914400"/>
            </a:xfrm>
            <a:prstGeom prst="roundRect">
              <a:avLst>
                <a:gd name="adj" fmla="val 8333"/>
              </a:avLst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2996" y="2407920"/>
              <a:ext cx="1208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29446" y="279654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参数 · 8 状态变量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5256" y="4206240"/>
            <a:ext cx="9252212" cy="1971294"/>
            <a:chOff x="905256" y="4206240"/>
            <a:chExt cx="9252212" cy="1971294"/>
          </a:xfrm>
        </p:grpSpPr>
        <p:sp>
          <p:nvSpPr>
            <p:cNvPr id="20" name="TextBox 20"/>
            <p:cNvSpPr txBox="1"/>
            <p:nvPr/>
          </p:nvSpPr>
          <p:spPr>
            <a:xfrm>
              <a:off x="905256" y="4206240"/>
              <a:ext cx="4263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从开发机迁移到本机 MinGW gfortran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3450" y="4552950"/>
              <a:ext cx="6438900" cy="133350"/>
            </a:xfrm>
            <a:custGeom>
              <a:avLst/>
              <a:gdLst/>
              <a:ahLst/>
              <a:cxnLst/>
              <a:rect l="l" t="t" r="r" b="b"/>
              <a:pathLst>
                <a:path w="6438900" h="133350">
                  <a:moveTo>
                    <a:pt x="0" y="66675"/>
                  </a:moveTo>
                  <a:cubicBezTo>
                    <a:pt x="2190750" y="0"/>
                    <a:pt x="4191000" y="133350"/>
                    <a:pt x="6438900" y="5715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3356" y="4949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08" y="52463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MSVC / VS2022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562350" y="5162550"/>
              <a:ext cx="2590800" cy="171450"/>
            </a:xfrm>
            <a:custGeom>
              <a:avLst/>
              <a:gdLst/>
              <a:ahLst/>
              <a:cxnLst/>
              <a:rect l="l" t="t" r="r" b="b"/>
              <a:pathLst>
                <a:path w="2590800" h="171450">
                  <a:moveTo>
                    <a:pt x="0" y="76200"/>
                  </a:moveTo>
                  <a:cubicBezTo>
                    <a:pt x="895350" y="0"/>
                    <a:pt x="1676400" y="171450"/>
                    <a:pt x="2590800" y="762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0706" y="4949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7658" y="5246370"/>
              <a:ext cx="37498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MinGW-w64 / gfortran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256" y="58254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改动范围小：无需重编译求解器，也无需改项目源码或测试卡。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2948" cy="819150"/>
            <a:chOff x="666750" y="365760"/>
            <a:chExt cx="68229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本机适配与自动化运行流程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24306" y="2038350"/>
            <a:ext cx="10327081" cy="1752600"/>
            <a:chOff x="924306" y="2038350"/>
            <a:chExt cx="10327081" cy="1752600"/>
          </a:xfrm>
        </p:grpSpPr>
        <p:sp>
          <p:nvSpPr>
            <p:cNvPr id="5" name="Freeform 5"/>
            <p:cNvSpPr/>
            <p:nvPr/>
          </p:nvSpPr>
          <p:spPr>
            <a:xfrm>
              <a:off x="1295400" y="2152650"/>
              <a:ext cx="9677400" cy="123825"/>
            </a:xfrm>
            <a:custGeom>
              <a:avLst/>
              <a:gdLst/>
              <a:ahLst/>
              <a:cxnLst/>
              <a:rect l="l" t="t" r="r" b="b"/>
              <a:pathLst>
                <a:path w="9677400" h="123825">
                  <a:moveTo>
                    <a:pt x="0" y="57150"/>
                  </a:moveTo>
                  <a:cubicBezTo>
                    <a:pt x="2533650" y="0"/>
                    <a:pt x="4648200" y="123825"/>
                    <a:pt x="7200900" y="47625"/>
                  </a:cubicBezTo>
                  <a:cubicBezTo>
                    <a:pt x="8382000" y="9525"/>
                    <a:pt x="9086850" y="76200"/>
                    <a:pt x="96774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0015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92430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484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3916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0506" y="2586990"/>
              <a:ext cx="1054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 DLL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4306" y="2987040"/>
              <a:ext cx="1579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Ninja + MinGW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4656" y="2586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8006" y="29870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项检查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2586990"/>
              <a:ext cx="20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6906" y="2987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单砖与多单元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49156" y="2586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7256" y="2987040"/>
              <a:ext cx="1964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动画 / T01 CSV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90600" y="3619500"/>
              <a:ext cx="9963150" cy="171450"/>
            </a:xfrm>
            <a:custGeom>
              <a:avLst/>
              <a:gdLst/>
              <a:ahLst/>
              <a:cxnLst/>
              <a:rect l="l" t="t" r="r" b="b"/>
              <a:pathLst>
                <a:path w="9963150" h="171450">
                  <a:moveTo>
                    <a:pt x="0" y="76200"/>
                  </a:moveTo>
                  <a:cubicBezTo>
                    <a:pt x="2590800" y="0"/>
                    <a:pt x="5562600" y="171450"/>
                    <a:pt x="9963150" y="6667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67156" y="4625340"/>
            <a:ext cx="7498519" cy="1628394"/>
            <a:chOff x="867156" y="4625340"/>
            <a:chExt cx="7498519" cy="1628394"/>
          </a:xfrm>
        </p:grpSpPr>
        <p:sp>
          <p:nvSpPr>
            <p:cNvPr id="20" name="TextBox 20"/>
            <p:cNvSpPr txBox="1"/>
            <p:nvPr/>
          </p:nvSpPr>
          <p:spPr>
            <a:xfrm>
              <a:off x="867156" y="4625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适配要点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156" y="50634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运行时镜像用硬链接复用 GF 求解器与配置，提供兼容文件名。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5482590"/>
              <a:ext cx="749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`libgcc_s_seh-1.dll` 与用户库同目录，满足 Python ctypes 加载。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9016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脚本自动检查工具链与转换器路径；编译或验证失败即停止。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材料点与单砖验证结果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19150" y="1844040"/>
            <a:ext cx="4533900" cy="3895344"/>
            <a:chOff x="819150" y="1844040"/>
            <a:chExt cx="4533900" cy="3895344"/>
          </a:xfrm>
        </p:grpSpPr>
        <p:sp>
          <p:nvSpPr>
            <p:cNvPr id="5" name="TextBox 5"/>
            <p:cNvSpPr txBox="1"/>
            <p:nvPr/>
          </p:nvSpPr>
          <p:spPr>
            <a:xfrm>
              <a:off x="829056" y="1844040"/>
              <a:ext cx="1822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385060"/>
              <a:ext cx="137386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3006090"/>
              <a:ext cx="16824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检查全部 PASS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3718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333500" y="0"/>
                    <a:pt x="27622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3691890"/>
              <a:ext cx="29987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静水压缩 · 单轴压缩 / 拉伸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40919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简单剪切 · 客观性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491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应变率效应 · 冲击率扫描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106" y="4892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大静水压缩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106" y="5387340"/>
              <a:ext cx="2434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P-alpha 压力误差 = 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4808" y="1844040"/>
            <a:ext cx="5069083" cy="3742944"/>
            <a:chOff x="6464808" y="1844040"/>
            <a:chExt cx="5069083" cy="3742944"/>
          </a:xfrm>
        </p:grpSpPr>
        <p:sp>
          <p:nvSpPr>
            <p:cNvPr id="15" name="TextBox 15"/>
            <p:cNvSpPr txBox="1"/>
            <p:nvPr/>
          </p:nvSpPr>
          <p:spPr>
            <a:xfrm>
              <a:off x="6467856" y="1844040"/>
              <a:ext cx="2616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单砖求解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808" y="2503170"/>
              <a:ext cx="36775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Starter · 0 ERROR(S)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856" y="3025140"/>
              <a:ext cx="3598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 · NORMAL TERMINATION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7856" y="3501390"/>
              <a:ext cx="292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cycles · T01 CSV 4 × 55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96050" y="39052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276350" y="0"/>
                    <a:pt x="27241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86906" y="4244340"/>
              <a:ext cx="5046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自动门：4 PASS / 3 NOT_CERTIFIED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6906" y="46824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未认证项依赖实验、冲击基准或正则化证据。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6906" y="5234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这里验证的是接口和数值闭环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7156" y="6120765"/>
            <a:ext cx="5349240" cy="352044"/>
            <a:chOff x="867156" y="6120765"/>
            <a:chExt cx="5349240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867156" y="61207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并不等于实验标定，也不等于复杂冲击算例验证。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400028" cy="819150"/>
            <a:chOff x="666750" y="365760"/>
            <a:chExt cx="640002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4000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清单的认证边界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26008" y="1741170"/>
            <a:ext cx="4450842" cy="2512314"/>
            <a:chOff x="826008" y="1741170"/>
            <a:chExt cx="4450842" cy="251231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41170"/>
              <a:ext cx="1566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项 PASS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857250" y="2152650"/>
              <a:ext cx="4419600" cy="123825"/>
            </a:xfrm>
            <a:custGeom>
              <a:avLst/>
              <a:gdLst/>
              <a:ahLst/>
              <a:cxnLst/>
              <a:rect l="l" t="t" r="r" b="b"/>
              <a:pathLst>
                <a:path w="4419600" h="123825">
                  <a:moveTo>
                    <a:pt x="0" y="57150"/>
                  </a:moveTo>
                  <a:cubicBezTo>
                    <a:pt x="1181100" y="0"/>
                    <a:pt x="2686050" y="123825"/>
                    <a:pt x="44196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106" y="2529840"/>
              <a:ext cx="1797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987040"/>
              <a:ext cx="2266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P-alpha EOS 一致性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444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材料点步长敏感性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01440"/>
              <a:ext cx="36403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 smoke 与 T01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8608" y="1741170"/>
            <a:ext cx="4622292" cy="3255264"/>
            <a:chOff x="6388608" y="1741170"/>
            <a:chExt cx="4622292" cy="3255264"/>
          </a:xfrm>
        </p:grpSpPr>
        <p:sp>
          <p:nvSpPr>
            <p:cNvPr id="12" name="TextBox 12"/>
            <p:cNvSpPr txBox="1"/>
            <p:nvPr/>
          </p:nvSpPr>
          <p:spPr>
            <a:xfrm>
              <a:off x="6388608" y="1741170"/>
              <a:ext cx="32333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 项 NOT_CERTIFIED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19850" y="2152650"/>
              <a:ext cx="4591050" cy="123825"/>
            </a:xfrm>
            <a:custGeom>
              <a:avLst/>
              <a:gdLst/>
              <a:ahLst/>
              <a:cxnLst/>
              <a:rect l="l" t="t" r="r" b="b"/>
              <a:pathLst>
                <a:path w="4591050" h="123825">
                  <a:moveTo>
                    <a:pt x="0" y="57150"/>
                  </a:moveTo>
                  <a:cubicBezTo>
                    <a:pt x="1295400" y="0"/>
                    <a:pt x="2857500" y="123825"/>
                    <a:pt x="45910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0706" y="25298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率效应标定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0706" y="2891790"/>
              <a:ext cx="2783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 SHPB 等动态实验数据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0706" y="3406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冲击基准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0706" y="3768090"/>
              <a:ext cx="301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需试验数据或对照 FE 案例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0706" y="4282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网格客观性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0706" y="4644390"/>
              <a:ext cx="3689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损伤缺少特征长度 / 断裂能正则化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5619750"/>
            <a:ext cx="10287000" cy="552450"/>
            <a:chOff x="876300" y="5619750"/>
            <a:chExt cx="10287000" cy="552450"/>
          </a:xfrm>
        </p:grpSpPr>
        <p:sp>
          <p:nvSpPr>
            <p:cNvPr id="21" name="Rectangle 21"/>
            <p:cNvSpPr/>
            <p:nvPr/>
          </p:nvSpPr>
          <p:spPr>
            <a:xfrm>
              <a:off x="876300" y="5619750"/>
              <a:ext cx="10287000" cy="552450"/>
            </a:xfrm>
            <a:prstGeom prst="roundRect">
              <a:avLst>
                <a:gd name="adj" fmla="val 13793"/>
              </a:avLst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6706" y="5787390"/>
              <a:ext cx="6549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NOT_CERTIFIED 是预期的证据缺口，不是本机迁移失败。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741498" cy="819150"/>
            <a:chOff x="666750" y="365760"/>
            <a:chExt cx="674149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7414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GUI 与应力后处理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6008" y="1779270"/>
            <a:ext cx="4488942" cy="3102864"/>
            <a:chOff x="826008" y="1779270"/>
            <a:chExt cx="4488942" cy="310286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79270"/>
              <a:ext cx="33476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/ Tk 图形界面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056" y="233934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 .rad / .k / .inp 算例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2777490"/>
              <a:ext cx="2629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设置线程数与 MPI 进程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181350"/>
              <a:ext cx="4457700" cy="123825"/>
            </a:xfrm>
            <a:custGeom>
              <a:avLst/>
              <a:gdLst/>
              <a:ahLst/>
              <a:cxnLst/>
              <a:rect l="l" t="t" r="r" b="b"/>
              <a:pathLst>
                <a:path w="4457700" h="123825">
                  <a:moveTo>
                    <a:pt x="0" y="57150"/>
                  </a:moveTo>
                  <a:cubicBezTo>
                    <a:pt x="1200150" y="0"/>
                    <a:pt x="2857500" y="123825"/>
                    <a:pt x="44577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353949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提交任务 · 查看与管理队列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39540"/>
              <a:ext cx="2847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动画转 VTK · 时程转 CSV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5300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求解与结果转换入口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4808" y="1779270"/>
            <a:ext cx="4565142" cy="3102864"/>
            <a:chOff x="6464808" y="1779270"/>
            <a:chExt cx="4565142" cy="3102864"/>
          </a:xfrm>
        </p:grpSpPr>
        <p:sp>
          <p:nvSpPr>
            <p:cNvPr id="13" name="TextBox 13"/>
            <p:cNvSpPr txBox="1"/>
            <p:nvPr/>
          </p:nvSpPr>
          <p:spPr>
            <a:xfrm>
              <a:off x="6464808" y="17792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应力分析与云图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7856" y="2339340"/>
              <a:ext cx="3636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HyperView 读取 RADIOSS A 动画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856" y="2777490"/>
              <a:ext cx="3397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Stress 张量：SX / SY / SZ 等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96050" y="3181350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0" y="57150"/>
                  </a:moveTo>
                  <a:cubicBezTo>
                    <a:pt x="1314450" y="0"/>
                    <a:pt x="2933700" y="123825"/>
                    <a:pt x="45339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86906" y="3539490"/>
              <a:ext cx="30798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Von Mises · Plastic Strain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906" y="39395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多单元结果可见空间应力梯度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906" y="45300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支持应力分布分析与云图查看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7156" y="5425440"/>
            <a:ext cx="7962234" cy="1100899"/>
            <a:chOff x="867156" y="5425440"/>
            <a:chExt cx="7962234" cy="1100899"/>
          </a:xfrm>
        </p:grpSpPr>
        <p:sp>
          <p:nvSpPr>
            <p:cNvPr id="21" name="TextBox 21"/>
            <p:cNvSpPr txBox="1"/>
            <p:nvPr/>
          </p:nvSpPr>
          <p:spPr>
            <a:xfrm>
              <a:off x="86715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结果链路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1606" y="5425440"/>
              <a:ext cx="6647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Python GUI 提交求解 → A 动画 / 时程转换 → HyperView 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825490"/>
              <a:ext cx="7705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H3D v24 在 HW14 下不可读；较新 HyperWorks 可查看 KF 内部变量。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7918" y="6203632"/>
              <a:ext cx="48280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适用算例：KF 单砖 · J2 基线 · KF 多单元轴压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365760"/>
            <a:ext cx="7672974" cy="1072515"/>
            <a:chOff x="666750" y="365760"/>
            <a:chExt cx="7672974" cy="107251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7297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下一阶段：VS2022 环境适配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14756" y="1005840"/>
              <a:ext cx="6730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目标：复现 OpenRadioss 构建，并复验 LAW99 用户本构闭环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723900" y="1333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64108" y="2057400"/>
            <a:ext cx="10394442" cy="2524125"/>
            <a:chOff x="864108" y="2057400"/>
            <a:chExt cx="10394442" cy="2524125"/>
          </a:xfrm>
        </p:grpSpPr>
        <p:sp>
          <p:nvSpPr>
            <p:cNvPr id="6" name="Freeform 6"/>
            <p:cNvSpPr/>
            <p:nvPr/>
          </p:nvSpPr>
          <p:spPr>
            <a:xfrm>
              <a:off x="1257300" y="2209800"/>
              <a:ext cx="9372600" cy="123825"/>
            </a:xfrm>
            <a:custGeom>
              <a:avLst/>
              <a:gdLst/>
              <a:ahLst/>
              <a:cxnLst/>
              <a:rect l="l" t="t" r="r" b="b"/>
              <a:pathLst>
                <a:path w="9372600" h="123825">
                  <a:moveTo>
                    <a:pt x="0" y="57150"/>
                  </a:moveTo>
                  <a:cubicBezTo>
                    <a:pt x="2667000" y="0"/>
                    <a:pt x="5314950" y="123825"/>
                    <a:pt x="93726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43000" y="2057400"/>
              <a:ext cx="419100" cy="41910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343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810250" y="2057400"/>
              <a:ext cx="419100" cy="41910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406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0267950" y="2057400"/>
              <a:ext cx="419100" cy="41910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983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10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配置工具链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156" y="3196590"/>
              <a:ext cx="18694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VS2022 · CMake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核对编译器与依赖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034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确定可复现配置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7630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33450" y="0"/>
                    <a:pt x="203835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6935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构建求解器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2406" y="3196590"/>
              <a:ext cx="1985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 + Engine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24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处理平台配置差异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2406" y="4034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检查构建与启动状态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78155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52500" y="0"/>
                    <a:pt x="205740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3608" y="2655570"/>
              <a:ext cx="187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复验 LAW99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6656" y="3196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重建用户库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6656" y="3596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重跑材料点与求解算例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6656" y="4034790"/>
              <a:ext cx="2398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对照当前 MinGW 结果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305800" y="4457700"/>
              <a:ext cx="2952750" cy="123825"/>
            </a:xfrm>
            <a:custGeom>
              <a:avLst/>
              <a:gdLst/>
              <a:ahLst/>
              <a:cxnLst/>
              <a:rect l="l" t="t" r="r" b="b"/>
              <a:pathLst>
                <a:path w="2952750" h="123825">
                  <a:moveTo>
                    <a:pt x="0" y="57150"/>
                  </a:moveTo>
                  <a:cubicBezTo>
                    <a:pt x="933450" y="0"/>
                    <a:pt x="2019300" y="123825"/>
                    <a:pt x="29527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76300" y="5410200"/>
            <a:ext cx="10287000" cy="647700"/>
            <a:chOff x="876300" y="5410200"/>
            <a:chExt cx="10287000" cy="647700"/>
          </a:xfrm>
        </p:grpSpPr>
        <p:sp>
          <p:nvSpPr>
            <p:cNvPr id="29" name="Rectangle 29"/>
            <p:cNvSpPr/>
            <p:nvPr/>
          </p:nvSpPr>
          <p:spPr>
            <a:xfrm>
              <a:off x="876300" y="5410200"/>
              <a:ext cx="102870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14806" y="5634990"/>
              <a:ext cx="695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交付：可复现的 VS2022 构建步骤、平台差异记录与回归结果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2026-10-08T10:33:01Z</dcterms:created>
  <dcterms:modified xsi:type="dcterms:W3CDTF">2026-10-08T10:33:01Z</dcterms:modified>
  <cp:category/>
  <cp:contentStatus/>
</cp:coreProperties>
</file>